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101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9157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Коротко представить тему: это не игра и не обычная презентация, а учебный VR-тренажёр для репетиции защиты.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Сделать акцент, что проект решает учебную задачу: помогает репетировать защиту, а не заменяет преподавателя.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Этот слайд можно проговорить почти дословно: цель, объект, предмет и основные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Подчеркнуть нишу проекта: учебная, доступная, изменяемая система.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перечислять слишком долго: сказать, что стек выбран из-за совместимости с VR и учебной доступности.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Это ключевой технический слайд. Объяснить, что каждый скрипт отвечает за свою область, а менеджер связывает их в сценарий.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Показать, что приложение — это законченный сценарий, а не набор отдельных объектов.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Это ответ на вопрос комиссии: чем диплом отличается от курсовой.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Объяснить, что это осознанный компромисс: эффект есть, но реализация не ломает импортированные анимации.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Сказать, что компиляция без ошибок не заменяет все пользовательские тесты, но подтверждает согласованность C#-части.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Экономику держать коротко: показать расчёт и объяснить, что проект учебный, а не коммерческий продукт.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Финальный слайд: уверенно перечислить, что именно сделано и почему результат соответствует цели.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Ответ на вопрос 'что дальше': сохранение результатов, речь, вопросы аудитории.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Оставить слайд на экране во время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324000"/>
            <a:ext cx="288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10B981"/>
                </a:solidFill>
                <a:latin typeface="Aptos"/>
              </a:rPr>
              <a:t>ДИПЛОМНЫЙ ПРОЕКТ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720000"/>
            <a:ext cx="84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0F172A"/>
                </a:solidFill>
                <a:latin typeface="Aptos"/>
              </a:rPr>
              <a:t>VR-симулятор публичных выступлений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1314000"/>
            <a:ext cx="684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475569"/>
                </a:solidFill>
                <a:latin typeface="Aptos"/>
              </a:rPr>
              <a:t>Обучающее приложение на Unity для репетиции доклада в виртуальной аудитории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3999" y="1983600"/>
            <a:ext cx="1152000" cy="259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Unity 2022.3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1999" y="1983600"/>
            <a:ext cx="540000" cy="259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C#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30000" y="1982250"/>
            <a:ext cx="1548000" cy="2592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XR Interaction Toolkit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3000" y="1980900"/>
            <a:ext cx="827999" cy="259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Aptos"/>
              </a:rPr>
              <a:t>OpenXR</a:t>
            </a:r>
            <a:endParaRPr sz="11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3999" y="5004000"/>
            <a:ext cx="3348000" cy="113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5004000"/>
            <a:ext cx="57600" cy="792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6000" y="5130000"/>
            <a:ext cx="3078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Выполнил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000" y="5407200"/>
            <a:ext cx="3078000" cy="30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>
                <a:solidFill>
                  <a:srgbClr val="475569"/>
                </a:solidFill>
                <a:latin typeface="Aptos"/>
              </a:rPr>
              <a:t>Федин А.А.</a:t>
            </a:r>
            <a:br>
              <a:rPr dirty="0"/>
            </a:br>
            <a:r>
              <a:rPr sz="1200" b="0" dirty="0">
                <a:solidFill>
                  <a:srgbClr val="475569"/>
                </a:solidFill>
                <a:latin typeface="Aptos"/>
              </a:rPr>
              <a:t>09.02.07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Информационные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системы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 и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программирование</a:t>
            </a:r>
            <a:endParaRPr sz="1200" b="0" dirty="0">
              <a:solidFill>
                <a:srgbClr val="475569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031999" y="5003999"/>
            <a:ext cx="4392000" cy="1133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31999" y="5004000"/>
            <a:ext cx="57600" cy="792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93999" y="5130000"/>
            <a:ext cx="412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3999" y="5407200"/>
            <a:ext cx="4121999" cy="30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 err="1">
                <a:solidFill>
                  <a:srgbClr val="475569"/>
                </a:solidFill>
                <a:latin typeface="Aptos"/>
              </a:rPr>
              <a:t>Рабочий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 VR-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прототип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 с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меню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статистикой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таймером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кликером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 и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реакцией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аудитории</a:t>
            </a:r>
            <a:endParaRPr sz="1200" b="0" dirty="0">
              <a:solidFill>
                <a:srgbClr val="475569"/>
              </a:solidFill>
              <a:latin typeface="Aptos"/>
            </a:endParaRPr>
          </a:p>
        </p:txBody>
      </p:sp>
      <p:sp>
        <p:nvSpPr>
          <p:cNvPr id="17" name="Arc 16"/>
          <p:cNvSpPr/>
          <p:nvPr/>
        </p:nvSpPr>
        <p:spPr>
          <a:xfrm>
            <a:off x="8892000" y="1080000"/>
            <a:ext cx="2268000" cy="1655999"/>
          </a:xfrm>
          <a:prstGeom prst="arc">
            <a:avLst/>
          </a:prstGeom>
          <a:ln w="1016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072000" y="1458000"/>
            <a:ext cx="792000" cy="5580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296000" y="1458000"/>
            <a:ext cx="792000" cy="5580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56000" y="2520000"/>
            <a:ext cx="396000" cy="396000"/>
          </a:xfrm>
          <a:prstGeom prst="ellipse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692000" y="2520000"/>
            <a:ext cx="396000" cy="396000"/>
          </a:xfrm>
          <a:prstGeom prst="ellipse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774000" y="2322000"/>
            <a:ext cx="396000" cy="396000"/>
          </a:xfrm>
          <a:prstGeom prst="ellipse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Публичное выступление требует практики, но безопасную аудиторию для репетиции создать трудно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224000"/>
            <a:ext cx="3420000" cy="172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3999" y="1224000"/>
            <a:ext cx="57600" cy="172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6000" y="1350000"/>
            <a:ext cx="315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Проблема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000" y="1627199"/>
            <a:ext cx="3150000" cy="124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Студент знает материал, но теряет темп, путает структуру и не укладывается в регламент перед реальной аудиторией.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000" y="1224000"/>
            <a:ext cx="3420000" cy="172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48000" y="1224000"/>
            <a:ext cx="57600" cy="172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0000" y="1350000"/>
            <a:ext cx="315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Почему VR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0000" y="1627199"/>
            <a:ext cx="3150000" cy="124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Виртуальная среда создаёт ощущение присутствия: докладчик видит зал, слушателей, экран и элементы управления.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2000" y="1224000"/>
            <a:ext cx="3420000" cy="172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92000" y="1224000"/>
            <a:ext cx="57600" cy="172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3999" y="1350000"/>
            <a:ext cx="315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Учебная ниша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3999" y="1627199"/>
            <a:ext cx="3150000" cy="124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Коммерческие VR-тренажёры часто закрытые и платные; учебный прототип можно адаптировать под колледж.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3671999"/>
            <a:ext cx="522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тренировка регламента и структуры доклада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репетиция в среде, похожей на аудиторию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доступная демонстрация VR-разработки на Unity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0000" y="3671999"/>
            <a:ext cx="187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86000" y="3772799"/>
            <a:ext cx="162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Aptos"/>
              </a:rPr>
              <a:t>5-10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6000" y="4096799"/>
            <a:ext cx="1620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оптимальная учебная VR-сессия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20000" y="3671999"/>
            <a:ext cx="187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46000" y="3772799"/>
            <a:ext cx="162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168 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6000" y="4096799"/>
            <a:ext cx="1620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оценка трудозатрат проекта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Цель и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Цель: разработать обучающее VR-приложение для репетиции публичного выступления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440000"/>
            <a:ext cx="2556000" cy="14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3999" y="1440000"/>
            <a:ext cx="57600" cy="144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6000" y="1565999"/>
            <a:ext cx="2286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1. Анализ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000" y="1843200"/>
            <a:ext cx="2286000" cy="9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изучить предметную область и аналоги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1999" y="2160000"/>
            <a:ext cx="324001" cy="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11999" y="1440000"/>
            <a:ext cx="2556000" cy="14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11999" y="1440000"/>
            <a:ext cx="57600" cy="144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3999" y="1565999"/>
            <a:ext cx="2286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2. Проектирование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3999" y="1843200"/>
            <a:ext cx="2286000" cy="9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описать сценарии, требования и архитектуру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0" y="2160000"/>
            <a:ext cx="323999" cy="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20000" y="1440000"/>
            <a:ext cx="2556000" cy="14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0000" y="1440000"/>
            <a:ext cx="57600" cy="1440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82000" y="1565999"/>
            <a:ext cx="2286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3. Реализация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2000" y="1843200"/>
            <a:ext cx="2286000" cy="9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создать VR-сцену, таймер, меню, статистику и реакции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67999" y="2160000"/>
            <a:ext cx="324001" cy="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927999" y="1440000"/>
            <a:ext cx="2556000" cy="14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27999" y="1440000"/>
            <a:ext cx="57600" cy="14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89999" y="1565999"/>
            <a:ext cx="2286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4. Проверка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999" y="1843200"/>
            <a:ext cx="2286000" cy="9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протестировать работу компонентов и подготовить документацию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3851999"/>
            <a:ext cx="5040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20000" y="3851999"/>
            <a:ext cx="57600" cy="108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2000" y="3977999"/>
            <a:ext cx="477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Объект исследования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00" y="4255200"/>
            <a:ext cx="4770000" cy="59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процесс подготовки обучающегося к публичному выступлению с применением иммерсивных технологий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0000" y="3851999"/>
            <a:ext cx="5040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20000" y="3851999"/>
            <a:ext cx="57600" cy="108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82000" y="3977999"/>
            <a:ext cx="477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Предмет исследования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2000" y="4255200"/>
            <a:ext cx="4770000" cy="59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программная реализация VR-тренажёра с аудиторией, презентацией, таймером, меню и статистикой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Сравнение с аналогами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Учебный прототип ориентирован на доступность и модификацию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00" y="1296000"/>
            <a:ext cx="259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Решение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96000"/>
            <a:ext cx="2592000" cy="288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00" y="1296000"/>
            <a:ext cx="3960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Сильная сторона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168000" y="1296000"/>
            <a:ext cx="3960000" cy="288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Сильная сторона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8000" y="1296000"/>
            <a:ext cx="3960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Ограничение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28000" y="1296000"/>
            <a:ext cx="3960000" cy="288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Ограничение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84000"/>
            <a:ext cx="2592000" cy="558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VirtualSpeech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68000" y="1584000"/>
            <a:ext cx="3960000" cy="558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готовые сценарии и аналитика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8000" y="1584000"/>
            <a:ext cx="3960000" cy="558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подписка, закрытая платформа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2142000"/>
            <a:ext cx="2592000" cy="558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Ovation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68000" y="2142000"/>
            <a:ext cx="3960000" cy="558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профессиональная тренировка речи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28000" y="2142000"/>
            <a:ext cx="3960000" cy="558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ориентация на коммерческое использование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" y="2700000"/>
            <a:ext cx="2592000" cy="558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Обычная репетиция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68000" y="2700000"/>
            <a:ext cx="3960000" cy="558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не требует оборудования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8000" y="2700000"/>
            <a:ext cx="3960000" cy="558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нет эффекта присутствия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00" y="3258000"/>
            <a:ext cx="2592000" cy="558000"/>
          </a:xfrm>
          <a:prstGeom prst="rect">
            <a:avLst/>
          </a:prstGeom>
          <a:solidFill>
            <a:srgbClr val="D1FAE5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Разработанный прототип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68000" y="3258000"/>
            <a:ext cx="3960000" cy="558000"/>
          </a:xfrm>
          <a:prstGeom prst="rect">
            <a:avLst/>
          </a:prstGeom>
          <a:solidFill>
            <a:srgbClr val="D1FAE5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адаптируемость под учебный проект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28000" y="3258000"/>
            <a:ext cx="3960000" cy="558000"/>
          </a:xfrm>
          <a:prstGeom prst="rect">
            <a:avLst/>
          </a:prstGeom>
          <a:solidFill>
            <a:srgbClr val="D1FAE5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аналитика пока базовая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12000" y="4500000"/>
            <a:ext cx="8820000" cy="7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512000" y="4500000"/>
            <a:ext cx="57600" cy="792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74000" y="4626000"/>
            <a:ext cx="855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Вывод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74000" y="4903200"/>
            <a:ext cx="8550000" cy="30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Для диплома важнее открытая архитектура и возможность показать собственную реализацию, чем готовая коммерческая аналитика.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Технологический стек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Выбранные инструменты соответствуют задаче VR-разработки и доступны для учебного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76000" y="1296000"/>
            <a:ext cx="3311999" cy="115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6000" y="1296000"/>
            <a:ext cx="57600" cy="1152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8000" y="1422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Unity 2022.3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1699200"/>
            <a:ext cx="3041999" cy="66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сцена, сборка, компоненты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0" y="1296000"/>
            <a:ext cx="3311999" cy="115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20000" y="1296000"/>
            <a:ext cx="57600" cy="1152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2000" y="1422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C#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2000" y="1699200"/>
            <a:ext cx="3041999" cy="66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логика таймера, слайдов, меню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4000" y="1296000"/>
            <a:ext cx="3311999" cy="115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64000" y="1296000"/>
            <a:ext cx="57600" cy="1152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6000" y="1422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XR Interaction Toolkit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6000" y="1699200"/>
            <a:ext cx="3041999" cy="66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взаимодействие в VR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2880000"/>
            <a:ext cx="3311999" cy="115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6000" y="2880000"/>
            <a:ext cx="57600" cy="1152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8000" y="3006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OpenXR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000" y="3283200"/>
            <a:ext cx="3041999" cy="66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поддержка VR-устройств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0" y="2880000"/>
            <a:ext cx="3311999" cy="115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320000" y="2880000"/>
            <a:ext cx="57600" cy="1152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2000" y="3006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TextMeshPro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2000" y="3283200"/>
            <a:ext cx="3041999" cy="66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читаемый текст интерфейса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4000" y="2880000"/>
            <a:ext cx="3311999" cy="115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64000" y="2880000"/>
            <a:ext cx="57600" cy="1152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6000" y="3006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Mixamo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6000" y="3283200"/>
            <a:ext cx="3041999" cy="66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персонажи и анимации аудитории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40000" y="4680000"/>
            <a:ext cx="9072000" cy="75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440000" y="4680000"/>
            <a:ext cx="57600" cy="75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02000" y="4806000"/>
            <a:ext cx="8802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Принцип выбора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2000" y="5083200"/>
            <a:ext cx="8802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Использованы распространённые инструменты, которые можно объяснить, проверить и доработать в рамках дипломного проекта.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Connector 28"/>
          <p:cNvCxnSpPr/>
          <p:nvPr/>
        </p:nvCxnSpPr>
        <p:spPr>
          <a:xfrm flipH="1" flipV="1">
            <a:off x="6048000" y="3006000"/>
            <a:ext cx="2412000" cy="131400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48000" y="1908000"/>
            <a:ext cx="2412000" cy="109800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816000" y="1908000"/>
            <a:ext cx="2232000" cy="109800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816000" y="3006000"/>
            <a:ext cx="2232000" cy="131400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Функциональная структура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Приложение построено как набор связанных Unity-компонентов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068000" y="2520000"/>
            <a:ext cx="3960000" cy="9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068000" y="2520000"/>
            <a:ext cx="57600" cy="972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30000" y="2923200"/>
            <a:ext cx="3690000" cy="4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 err="1">
                <a:solidFill>
                  <a:srgbClr val="475569"/>
                </a:solidFill>
                <a:latin typeface="Aptos"/>
              </a:rPr>
              <a:t>координирует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запуск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паузу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завершение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меню</a:t>
            </a:r>
            <a:r>
              <a:rPr sz="1200" b="0" dirty="0">
                <a:solidFill>
                  <a:srgbClr val="475569"/>
                </a:solidFill>
                <a:latin typeface="Aptos"/>
              </a:rPr>
              <a:t> и </a:t>
            </a:r>
            <a:r>
              <a:rPr sz="1200" b="0" dirty="0" err="1">
                <a:solidFill>
                  <a:srgbClr val="475569"/>
                </a:solidFill>
                <a:latin typeface="Aptos"/>
              </a:rPr>
              <a:t>статистику</a:t>
            </a:r>
            <a:endParaRPr sz="1200" b="0" dirty="0">
              <a:solidFill>
                <a:srgbClr val="475569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30000" y="2646000"/>
            <a:ext cx="369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dirty="0" err="1">
                <a:solidFill>
                  <a:srgbClr val="0F172A"/>
                </a:solidFill>
                <a:latin typeface="Aptos"/>
              </a:rPr>
              <a:t>PresentationSessionManager</a:t>
            </a:r>
            <a:endParaRPr sz="1500" b="1" dirty="0">
              <a:solidFill>
                <a:srgbClr val="0F172A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20000" y="1440000"/>
            <a:ext cx="3096000" cy="9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0000" y="1440000"/>
            <a:ext cx="57600" cy="9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000" y="1565999"/>
            <a:ext cx="2826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SlideChanger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000" y="1843200"/>
            <a:ext cx="282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слайды: вперёд, назад, сброс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851999"/>
            <a:ext cx="3096000" cy="9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20000" y="3851999"/>
            <a:ext cx="57600" cy="936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2000" y="3977999"/>
            <a:ext cx="2826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SpeakerTimer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000" y="4255200"/>
            <a:ext cx="282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старт, пауза, сброс времени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60000" y="1440000"/>
            <a:ext cx="3096000" cy="9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460000" y="1440000"/>
            <a:ext cx="57600" cy="93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22000" y="1565999"/>
            <a:ext cx="2826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ClickerControls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2000" y="1843200"/>
            <a:ext cx="282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команды с объекта кликера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60000" y="3851999"/>
            <a:ext cx="3096000" cy="9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60000" y="3851999"/>
            <a:ext cx="57600" cy="9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22000" y="3977999"/>
            <a:ext cx="2826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AudienceReactionController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000" y="4255200"/>
            <a:ext cx="282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оживление и финальная реакция аудитории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0000" y="4932000"/>
            <a:ext cx="5400000" cy="70199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40000" y="4932000"/>
            <a:ext cx="57600" cy="576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01999" y="5058000"/>
            <a:ext cx="513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PCControlFallback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999" y="5335200"/>
            <a:ext cx="5130000" cy="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проверка сцены без VR-шлема: клавиатура и мышь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Сценарий тренировки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Пользователь проходит полный цикл подготовки доклада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872000"/>
            <a:ext cx="1944000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32000" y="1872000"/>
            <a:ext cx="57600" cy="118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000" y="1998000"/>
            <a:ext cx="167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Подготовка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000" y="2275200"/>
            <a:ext cx="1674000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выбрать тему и слайды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52000" y="1368000"/>
            <a:ext cx="432000" cy="259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22000" y="2466000"/>
            <a:ext cx="288000" cy="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18000" y="1872000"/>
            <a:ext cx="1944000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18000" y="1872000"/>
            <a:ext cx="57600" cy="118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80000" y="1998000"/>
            <a:ext cx="167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Старт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0" y="2275200"/>
            <a:ext cx="1674000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запустить таймер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000" y="1368000"/>
            <a:ext cx="432000" cy="259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08000" y="2466000"/>
            <a:ext cx="288000" cy="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03999" y="1872000"/>
            <a:ext cx="1944000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03999" y="1872000"/>
            <a:ext cx="57600" cy="118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65999" y="1998000"/>
            <a:ext cx="167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Выступление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5999" y="2275200"/>
            <a:ext cx="1674000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говорить и переключать слайды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23999" y="1368000"/>
            <a:ext cx="432000" cy="2592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93999" y="2466000"/>
            <a:ext cx="288001" cy="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289999" y="1872000"/>
            <a:ext cx="1944000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89999" y="1872000"/>
            <a:ext cx="57600" cy="118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51999" y="1998000"/>
            <a:ext cx="167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Пауза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1999" y="2275200"/>
            <a:ext cx="1674000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остановиться без сброса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9999" y="1368000"/>
            <a:ext cx="432000" cy="259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79999" y="2466000"/>
            <a:ext cx="288000" cy="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76000" y="1872000"/>
            <a:ext cx="1944000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576000" y="1872000"/>
            <a:ext cx="57600" cy="118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37999" y="1998000"/>
            <a:ext cx="167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Финиш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7999" y="2275200"/>
            <a:ext cx="1674000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завершить и увидеть статистику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96000" y="1368000"/>
            <a:ext cx="432000" cy="259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40000" y="3960000"/>
            <a:ext cx="9000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управление не выводит пользователя из VR-среды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статистика помогает оценить регламент и структуру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реакция аудитории создаёт ощущение социальной ситуации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Что было доработано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После курсового проекта добавлены функции, необходимые для дипломной демонстрации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76000" y="1260000"/>
            <a:ext cx="3311999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6000" y="1260000"/>
            <a:ext cx="57600" cy="118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8000" y="1386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Меню тренировки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1663200"/>
            <a:ext cx="3041999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единая панель команд и состояния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0" y="1260000"/>
            <a:ext cx="3311999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20000" y="1260000"/>
            <a:ext cx="57600" cy="118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2000" y="1386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Статистика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2000" y="1663200"/>
            <a:ext cx="3041999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время, слайд, переключения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4000" y="1260000"/>
            <a:ext cx="3311999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64000" y="1260000"/>
            <a:ext cx="57600" cy="118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6000" y="1386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Старт/пауза таймера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6000" y="1663200"/>
            <a:ext cx="3041999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репетиция без полного сброса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2916000"/>
            <a:ext cx="3311999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6000" y="2916000"/>
            <a:ext cx="57600" cy="118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8000" y="3041999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Кликер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000" y="3319199"/>
            <a:ext cx="3041999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естественное управление докладчика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0" y="2916000"/>
            <a:ext cx="3311999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320000" y="2916000"/>
            <a:ext cx="57600" cy="118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2000" y="3041999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Реакция аудитории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2000" y="3319199"/>
            <a:ext cx="3041999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слушатели визуально оживают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4000" y="2916000"/>
            <a:ext cx="3311999" cy="11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64000" y="2916000"/>
            <a:ext cx="57600" cy="118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6000" y="3041999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Безопасный ПК-режим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6000" y="3319199"/>
            <a:ext cx="3041999" cy="70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проверка без VR-гарнитуры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2000" y="4824000"/>
            <a:ext cx="8280000" cy="6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872000" y="4824000"/>
            <a:ext cx="57600" cy="64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34000" y="4950000"/>
            <a:ext cx="801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Главный эффект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34000" y="5227200"/>
            <a:ext cx="8010000" cy="16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Проект стал не просто VR-сценой, а управляемым тренажёром публичного выступления.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Реакция аудитории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Аудитория даёт визуальную обратную связь без сложной перестройки анимаций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0000" y="1332000"/>
            <a:ext cx="3491999" cy="1475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0000" y="1332000"/>
            <a:ext cx="57600" cy="147599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2000" y="1458000"/>
            <a:ext cx="322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Почему нужна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2000" y="1735200"/>
            <a:ext cx="3221999" cy="989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Неподвижная аудитория быстро воспринимается как декорация. Реакция делает сцену похожей на социальную ситуацию.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0" y="1332000"/>
            <a:ext cx="3491999" cy="1475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20000" y="1332000"/>
            <a:ext cx="57600" cy="147599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2000" y="1458000"/>
            <a:ext cx="322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Как реализовано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2000" y="1735200"/>
            <a:ext cx="3221999" cy="989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AudienceReactionController временно меняет скорость существующих Animator-компонентов у слушателей.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0000" y="1332000"/>
            <a:ext cx="3491999" cy="1475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00000" y="1332000"/>
            <a:ext cx="57600" cy="147599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2000" y="1458000"/>
            <a:ext cx="322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Почему так безопаснее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2000" y="1735200"/>
            <a:ext cx="3221999" cy="989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Не требуется менять Animator Controller и добавлять параметры, которых может не быть у импортированных моделей.</a:t>
            </a:r>
          </a:p>
        </p:txBody>
      </p:sp>
      <p:sp>
        <p:nvSpPr>
          <p:cNvPr id="18" name="Oval 17"/>
          <p:cNvSpPr/>
          <p:nvPr/>
        </p:nvSpPr>
        <p:spPr>
          <a:xfrm>
            <a:off x="2160000" y="3708000"/>
            <a:ext cx="1152000" cy="1152000"/>
          </a:xfrm>
          <a:prstGeom prst="ellipse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70000" y="4950000"/>
            <a:ext cx="1332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ptos"/>
              </a:rPr>
              <a:t>нейтрально</a:t>
            </a:r>
          </a:p>
        </p:txBody>
      </p:sp>
      <p:sp>
        <p:nvSpPr>
          <p:cNvPr id="20" name="Oval 19"/>
          <p:cNvSpPr/>
          <p:nvPr/>
        </p:nvSpPr>
        <p:spPr>
          <a:xfrm>
            <a:off x="4716000" y="3708000"/>
            <a:ext cx="1152000" cy="1152000"/>
          </a:xfrm>
          <a:prstGeom prst="ellipse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26000" y="4950000"/>
            <a:ext cx="1332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ptos"/>
              </a:rPr>
              <a:t>оживление</a:t>
            </a:r>
          </a:p>
        </p:txBody>
      </p:sp>
      <p:sp>
        <p:nvSpPr>
          <p:cNvPr id="22" name="Oval 21"/>
          <p:cNvSpPr/>
          <p:nvPr/>
        </p:nvSpPr>
        <p:spPr>
          <a:xfrm>
            <a:off x="7272000" y="3708000"/>
            <a:ext cx="1152000" cy="1152000"/>
          </a:xfrm>
          <a:prstGeom prst="ellipse">
            <a:avLst/>
          </a:prstGeom>
          <a:solidFill>
            <a:srgbClr val="FEF3C7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82000" y="4950000"/>
            <a:ext cx="1332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ptos"/>
              </a:rPr>
              <a:t>финальная реакция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Тестирование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Проверялись функции, связи компонентов и готовность к демонстрации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76000" y="1332000"/>
            <a:ext cx="4968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6000" y="1332000"/>
            <a:ext cx="57600" cy="108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8000" y="1458000"/>
            <a:ext cx="4698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Функциональные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1735200"/>
            <a:ext cx="4698000" cy="59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таймер, слайды, меню, кликер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1332000"/>
            <a:ext cx="4968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20000" y="1332000"/>
            <a:ext cx="57600" cy="108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2000" y="1458000"/>
            <a:ext cx="4698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Интеграционные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2000" y="1735200"/>
            <a:ext cx="4698000" cy="59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связь менеджера, таймера, слайдов и аудитории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2808000"/>
            <a:ext cx="4968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6000" y="2808000"/>
            <a:ext cx="57600" cy="1080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8000" y="2934000"/>
            <a:ext cx="4698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Граничные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000" y="3211200"/>
            <a:ext cx="4698000" cy="59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первый/последний слайд, повторные нажатия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0000" y="2808000"/>
            <a:ext cx="4968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20000" y="2808000"/>
            <a:ext cx="57600" cy="10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82000" y="2934000"/>
            <a:ext cx="4698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Визуальные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2000" y="3211200"/>
            <a:ext cx="4698000" cy="59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читаемость интерфейса и положение объектов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12000" y="4500000"/>
            <a:ext cx="2520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38000" y="4600800"/>
            <a:ext cx="2268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Aptos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8000" y="4924800"/>
            <a:ext cx="2268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ошибок C# после финальной проверки компиляции Unity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08000" y="4500000"/>
            <a:ext cx="2520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34000" y="4600800"/>
            <a:ext cx="2268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4000" y="4924800"/>
            <a:ext cx="2268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таблиц в пояснительной записке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03999" y="4500000"/>
            <a:ext cx="2520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30000" y="4600800"/>
            <a:ext cx="2268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59E0B"/>
                </a:solidFill>
                <a:latin typeface="Aptos"/>
              </a:rPr>
              <a:t>10k+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0000" y="4924800"/>
            <a:ext cx="2268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слов в финальной записке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Экономика и безопасность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Проект ориентирован на учебное применение с низкими дополнительными затратами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0000" y="1332000"/>
            <a:ext cx="3528000" cy="14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0000" y="1332000"/>
            <a:ext cx="57600" cy="144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2000" y="1458000"/>
            <a:ext cx="3258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Трудозатраты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2000" y="1735200"/>
            <a:ext cx="3258000" cy="9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Оценка полного цикла учебной разработки: анализ, проектирование, сцена, программирование, тестирование и документация.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0" y="1332000"/>
            <a:ext cx="3528000" cy="14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20000" y="1332000"/>
            <a:ext cx="57600" cy="144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2000" y="1458000"/>
            <a:ext cx="3258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Стоимость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2000" y="1735200"/>
            <a:ext cx="3258000" cy="9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168 часов × 300 рублей = 50 400 рублей условной трудовой стоимости прототипа.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0000" y="1332000"/>
            <a:ext cx="3528000" cy="14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00000" y="1332000"/>
            <a:ext cx="57600" cy="14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2000" y="1458000"/>
            <a:ext cx="3258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Безопасность VR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2000" y="1735200"/>
            <a:ext cx="3258000" cy="9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Свободная зона, короткие сессии 5-10 минут, перерывы, отсутствие резких перемещений камеры.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0000" y="3780000"/>
            <a:ext cx="954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программные инструменты доступны для учебной разработки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при наличии VR-гарнитуры дополнительные расходы минимальны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ПК-режим снижает зависимость от оборудования при демонстрации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Результаты дипломного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Получен рабочий прототип VR-тренажёра и комплект описательной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76000" y="1475999"/>
            <a:ext cx="2520000" cy="12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6000" y="1475999"/>
            <a:ext cx="57600" cy="122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8000" y="1601999"/>
            <a:ext cx="225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VR-сцена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1879200"/>
            <a:ext cx="2250000" cy="737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аудитория, экран, пользовательская позиция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4000" y="1475999"/>
            <a:ext cx="2520000" cy="12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4000" y="1475999"/>
            <a:ext cx="57600" cy="1224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6000" y="1601999"/>
            <a:ext cx="225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Управление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6000" y="1879200"/>
            <a:ext cx="2250000" cy="737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кликер, слайды, старт/пауза таймера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475999"/>
            <a:ext cx="2520000" cy="12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2000" y="1475999"/>
            <a:ext cx="57600" cy="1224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3999" y="1601999"/>
            <a:ext cx="225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Обратная связь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3999" y="1879200"/>
            <a:ext cx="2250000" cy="737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статистика и реакция аудитории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0000" y="1475999"/>
            <a:ext cx="2520000" cy="12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00000" y="1475999"/>
            <a:ext cx="57600" cy="1224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62000" y="1601999"/>
            <a:ext cx="225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Документы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000" y="1879200"/>
            <a:ext cx="2250000" cy="737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пояснительная записка и эксплуатационные разделы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000" y="3636000"/>
            <a:ext cx="5112000" cy="12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20000" y="3636000"/>
            <a:ext cx="57600" cy="1224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2000" y="3761999"/>
            <a:ext cx="4842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Выполнены задачи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000" y="4039199"/>
            <a:ext cx="4842000" cy="737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Проведён анализ аналогов, выбран стек, спроектирована архитектура, реализованы ключевые функции, выполнена проверка работоспособности.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0000" y="3636000"/>
            <a:ext cx="5112000" cy="12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20000" y="3636000"/>
            <a:ext cx="57600" cy="122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82000" y="3761999"/>
            <a:ext cx="4842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Практическая значимость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2000" y="4039199"/>
            <a:ext cx="4842000" cy="737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Прототип можно использовать для репетиции защиты и как демонстрационный пример VR-разработки на Unity.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51999"/>
            <a:ext cx="9180000" cy="41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Aptos"/>
              </a:rPr>
              <a:t>Перспективы развития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810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Проект можно расширять без полной переработки архитектуры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44000" y="270000"/>
            <a:ext cx="612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475569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4000"/>
            <a:ext cx="1152000" cy="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76000" y="1296000"/>
            <a:ext cx="3311999" cy="11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6000" y="1296000"/>
            <a:ext cx="57600" cy="111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8000" y="1422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Сохранение результатов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1699200"/>
            <a:ext cx="3041999" cy="6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история попыток и отчёты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0" y="1296000"/>
            <a:ext cx="3311999" cy="11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20000" y="1296000"/>
            <a:ext cx="57600" cy="111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2000" y="1422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Анализ речи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2000" y="1699200"/>
            <a:ext cx="3041999" cy="6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темп, паузы, громкость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4000" y="1296000"/>
            <a:ext cx="3311999" cy="11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64000" y="1296000"/>
            <a:ext cx="57600" cy="1116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6000" y="1422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Сценарии аудитории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6000" y="1699200"/>
            <a:ext cx="3041999" cy="6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нейтральная, внимательная, сложная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2808000"/>
            <a:ext cx="3311999" cy="11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6000" y="2808000"/>
            <a:ext cx="57600" cy="111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8000" y="2934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Вопросы комиссии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000" y="3211200"/>
            <a:ext cx="3041999" cy="6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этап после завершения доклада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0" y="2808000"/>
            <a:ext cx="3311999" cy="11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320000" y="2808000"/>
            <a:ext cx="57600" cy="111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2000" y="2934000"/>
            <a:ext cx="3041999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Импорт слайдов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2000" y="3211200"/>
            <a:ext cx="3041999" cy="6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загрузка изображений или PDF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40000" y="4788000"/>
            <a:ext cx="9072000" cy="8841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440000" y="4788000"/>
            <a:ext cx="57600" cy="64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02000" y="4914000"/>
            <a:ext cx="8802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Основа уже готова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2000" y="5191200"/>
            <a:ext cx="8802000" cy="16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Менеджер сессии, таймер, слайды, кликер и аудитория разделены по компонентам, поэтому новые функции можно подключать постепенно.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1152000"/>
            <a:ext cx="792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800" b="1">
                <a:solidFill>
                  <a:srgbClr val="0F172A"/>
                </a:solidFill>
                <a:latin typeface="Aptos"/>
              </a:rPr>
              <a:t>Спасибо за внимание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1728000"/>
            <a:ext cx="504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475569"/>
                </a:solidFill>
                <a:latin typeface="Aptos"/>
              </a:rPr>
              <a:t>Готов ответить на вопросы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3999" y="2951999"/>
            <a:ext cx="6660000" cy="12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3999" y="2951999"/>
            <a:ext cx="57600" cy="129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000" y="3077999"/>
            <a:ext cx="639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Ключевая мысль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3355200"/>
            <a:ext cx="6390000" cy="8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Разработан учебный VR-тренажёр, который помогает репетировать публичное выступление в виртуальной аудитории и демонстрирует полный цикл Unity-разработки.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0" y="2340000"/>
            <a:ext cx="1224000" cy="259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Unity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32000" y="2340000"/>
            <a:ext cx="1224000" cy="259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VR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0000" y="2826000"/>
            <a:ext cx="1224000" cy="2592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800" rIns="64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C#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1134</Words>
  <Application>Microsoft Office PowerPoint</Application>
  <PresentationFormat>Широкоэкранный</PresentationFormat>
  <Paragraphs>227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Артемий Федин</cp:lastModifiedBy>
  <cp:revision>2</cp:revision>
  <dcterms:created xsi:type="dcterms:W3CDTF">2013-01-27T09:14:16Z</dcterms:created>
  <dcterms:modified xsi:type="dcterms:W3CDTF">2026-06-08T02:30:58Z</dcterms:modified>
  <cp:category/>
</cp:coreProperties>
</file>