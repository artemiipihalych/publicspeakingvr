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72" r:id="rId2"/>
    <p:sldId id="257" r:id="rId3"/>
    <p:sldId id="259" r:id="rId4"/>
    <p:sldId id="267" r:id="rId5"/>
    <p:sldId id="268" r:id="rId6"/>
    <p:sldId id="271" r:id="rId7"/>
    <p:sldId id="270" r:id="rId8"/>
    <p:sldId id="274" r:id="rId9"/>
    <p:sldId id="275" r:id="rId10"/>
    <p:sldId id="263" r:id="rId11"/>
    <p:sldId id="276" r:id="rId12"/>
    <p:sldId id="277" r:id="rId13"/>
    <p:sldId id="265" r:id="rId14"/>
    <p:sldId id="269" r:id="rId15"/>
    <p:sldId id="260" r:id="rId16"/>
    <p:sldId id="278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7C37-CA22-4459-BF10-E7B4E0741A3A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4F6513F-880C-4997-B4AE-C092A7EFF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097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7C37-CA22-4459-BF10-E7B4E0741A3A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513F-880C-4997-B4AE-C092A7EFF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754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7C37-CA22-4459-BF10-E7B4E0741A3A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4F6513F-880C-4997-B4AE-C092A7EFF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860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7C37-CA22-4459-BF10-E7B4E0741A3A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4F6513F-880C-4997-B4AE-C092A7EFF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80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7C37-CA22-4459-BF10-E7B4E0741A3A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4F6513F-880C-4997-B4AE-C092A7EFF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46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7C37-CA22-4459-BF10-E7B4E0741A3A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513F-880C-4997-B4AE-C092A7EFF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9195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7C37-CA22-4459-BF10-E7B4E0741A3A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513F-880C-4997-B4AE-C092A7EFF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581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7C37-CA22-4459-BF10-E7B4E0741A3A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513F-880C-4997-B4AE-C092A7EFF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26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7C37-CA22-4459-BF10-E7B4E0741A3A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4F6513F-880C-4997-B4AE-C092A7EFF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901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7C37-CA22-4459-BF10-E7B4E0741A3A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4F6513F-880C-4997-B4AE-C092A7EFF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171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7C37-CA22-4459-BF10-E7B4E0741A3A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4F6513F-880C-4997-B4AE-C092A7EFFBCF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9359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7C37-CA22-4459-BF10-E7B4E0741A3A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4F6513F-880C-4997-B4AE-C092A7EFF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5077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7C37-CA22-4459-BF10-E7B4E0741A3A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4F6513F-880C-4997-B4AE-C092A7EFFBCF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67027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7C37-CA22-4459-BF10-E7B4E0741A3A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4F6513F-880C-4997-B4AE-C092A7EFF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4885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7C37-CA22-4459-BF10-E7B4E0741A3A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513F-880C-4997-B4AE-C092A7EFF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0504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7C37-CA22-4459-BF10-E7B4E0741A3A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513F-880C-4997-B4AE-C092A7EFF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878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67C37-CA22-4459-BF10-E7B4E0741A3A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4F6513F-880C-4997-B4AE-C092A7EFF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2455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04203" y="2943726"/>
            <a:ext cx="8915399" cy="2262781"/>
          </a:xfrm>
        </p:spPr>
        <p:txBody>
          <a:bodyPr>
            <a:noAutofit/>
          </a:bodyPr>
          <a:lstStyle/>
          <a:p>
            <a:pPr algn="ctr"/>
            <a:br>
              <a:rPr lang="ru-RU" sz="4800" dirty="0"/>
            </a:br>
            <a:br>
              <a:rPr lang="ru-RU" sz="4800" dirty="0"/>
            </a:br>
            <a:r>
              <a:rPr lang="ru-RU" sz="4800" dirty="0"/>
              <a:t>Выпускная квалификационная работа </a:t>
            </a:r>
            <a:r>
              <a:rPr lang="ru-RU" sz="2400" dirty="0"/>
              <a:t>на тему: Разработка обучающего </a:t>
            </a:r>
            <a:r>
              <a:rPr lang="en-US" sz="2400" dirty="0"/>
              <a:t>VR-</a:t>
            </a:r>
            <a:r>
              <a:rPr lang="ru-RU" sz="2400" dirty="0"/>
              <a:t>приложения</a:t>
            </a:r>
            <a:br>
              <a:rPr lang="ru-RU" sz="2400" dirty="0"/>
            </a:br>
            <a:br>
              <a:rPr lang="ru-RU" sz="2400" dirty="0"/>
            </a:br>
            <a:br>
              <a:rPr lang="ru-RU" sz="2400" dirty="0"/>
            </a:br>
            <a:r>
              <a:rPr lang="ru-RU" sz="2400" dirty="0"/>
              <a:t>специальность 09.02.07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204203" y="494136"/>
            <a:ext cx="8915399" cy="1126283"/>
          </a:xfrm>
        </p:spPr>
        <p:txBody>
          <a:bodyPr>
            <a:noAutofit/>
          </a:bodyPr>
          <a:lstStyle/>
          <a:p>
            <a:pPr algn="ctr"/>
            <a:r>
              <a:rPr lang="ru-RU" sz="1400" dirty="0"/>
              <a:t>Министерство образования и науки Челябинской области</a:t>
            </a:r>
          </a:p>
          <a:p>
            <a:pPr algn="ctr"/>
            <a:r>
              <a:rPr lang="ru-RU" sz="1400" dirty="0"/>
              <a:t>Государственное бюджетное профессиональное образовательное учреждение</a:t>
            </a:r>
          </a:p>
          <a:p>
            <a:pPr algn="ctr"/>
            <a:r>
              <a:rPr lang="ru-RU" sz="1400" dirty="0"/>
              <a:t>«Южно-Уральский государственный колледж»</a:t>
            </a:r>
          </a:p>
          <a:p>
            <a:pPr algn="ctr"/>
            <a:r>
              <a:rPr lang="ru-RU" sz="1400" dirty="0"/>
              <a:t>ПЦК Информационных технологий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02812" y="5791200"/>
            <a:ext cx="38891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Выполнил: Федин А.А.</a:t>
            </a:r>
          </a:p>
          <a:p>
            <a:r>
              <a:rPr lang="ru-RU" dirty="0"/>
              <a:t>Группа 319</a:t>
            </a:r>
          </a:p>
          <a:p>
            <a:r>
              <a:rPr lang="ru-RU" dirty="0"/>
              <a:t>Руководитель: Исаев А.Н.</a:t>
            </a:r>
          </a:p>
        </p:txBody>
      </p:sp>
    </p:spTree>
    <p:extLst>
      <p:ext uri="{BB962C8B-B14F-4D97-AF65-F5344CB8AC3E}">
        <p14:creationId xmlns:p14="http://schemas.microsoft.com/office/powerpoint/2010/main" val="313903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9799" y="279400"/>
            <a:ext cx="10414000" cy="787400"/>
          </a:xfrm>
        </p:spPr>
        <p:txBody>
          <a:bodyPr>
            <a:normAutofit/>
          </a:bodyPr>
          <a:lstStyle/>
          <a:p>
            <a:r>
              <a:rPr lang="ru-RU" sz="2400" b="1">
                <a:solidFill>
                  <a:srgbClr val="222222"/>
                </a:solidFill>
                <a:latin typeface="Century Gothic" panose="020B0502020202020204" pitchFamily="34" charset="0"/>
              </a:rPr>
              <a:t>Введение</a:t>
            </a:r>
            <a:endParaRPr lang="ru-RU" sz="2400" b="1" dirty="0">
              <a:solidFill>
                <a:srgbClr val="222222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C6423112-8C3C-4F8F-8BF2-C60CC2BD3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E44384E-644D-487A-8227-86E4DAC85010}"/>
              </a:ext>
            </a:extLst>
          </p:cNvPr>
          <p:cNvSpPr/>
          <p:nvPr/>
        </p:nvSpPr>
        <p:spPr>
          <a:xfrm>
            <a:off x="1117600" y="1333500"/>
            <a:ext cx="101600" cy="63500"/>
          </a:xfrm>
          <a:prstGeom prst="rect">
            <a:avLst/>
          </a:prstGeom>
          <a:solidFill>
            <a:srgbClr val="B81F1F"/>
          </a:solidFill>
          <a:ln w="15875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rnd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1AE80F-CBF7-4A16-9C50-CBE93964757E}"/>
              </a:ext>
            </a:extLst>
          </p:cNvPr>
          <p:cNvSpPr txBox="1"/>
          <p:nvPr/>
        </p:nvSpPr>
        <p:spPr>
          <a:xfrm>
            <a:off x="1371600" y="1219200"/>
            <a:ext cx="10033000" cy="74379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500">
                <a:solidFill>
                  <a:srgbClr val="222222"/>
                </a:solidFill>
                <a:latin typeface="Century Gothic" panose="020B0502020202020204" pitchFamily="34" charset="0"/>
              </a:rPr>
              <a:t>Актуальность: студенту сложно отработать выступление только перед зеркалом или в пустой аудитории. VR-среда дает эффект присутствия, регламент по времени и реакцию зала без риска реального выступления.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1A638A-17D6-4BD5-A262-9505B792C777}"/>
              </a:ext>
            </a:extLst>
          </p:cNvPr>
          <p:cNvSpPr txBox="1"/>
          <p:nvPr/>
        </p:nvSpPr>
        <p:spPr>
          <a:xfrm>
            <a:off x="1371600" y="2235200"/>
            <a:ext cx="1524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500" b="1">
                <a:solidFill>
                  <a:srgbClr val="222222"/>
                </a:solidFill>
                <a:latin typeface="Century Gothic" panose="020B0502020202020204" pitchFamily="34" charset="0"/>
              </a:rPr>
              <a:t>Цель: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ABB990-9BF5-4D9F-9001-2497475FABCB}"/>
              </a:ext>
            </a:extLst>
          </p:cNvPr>
          <p:cNvSpPr txBox="1"/>
          <p:nvPr/>
        </p:nvSpPr>
        <p:spPr>
          <a:xfrm>
            <a:off x="2387600" y="2235200"/>
            <a:ext cx="9017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500">
                <a:solidFill>
                  <a:srgbClr val="222222"/>
                </a:solidFill>
                <a:latin typeface="Century Gothic" panose="020B0502020202020204" pitchFamily="34" charset="0"/>
              </a:rPr>
              <a:t>разработать VR-тренажер публичного выступления с интерактивной аудиторией, таймером, слайдами и поддержкой HTC Vive Focus 3.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E38778-A390-4687-82EE-24A2BB0B5C59}"/>
              </a:ext>
            </a:extLst>
          </p:cNvPr>
          <p:cNvSpPr txBox="1"/>
          <p:nvPr/>
        </p:nvSpPr>
        <p:spPr>
          <a:xfrm>
            <a:off x="1371600" y="3098800"/>
            <a:ext cx="1651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500" b="1">
                <a:solidFill>
                  <a:srgbClr val="222222"/>
                </a:solidFill>
                <a:latin typeface="Century Gothic" panose="020B0502020202020204" pitchFamily="34" charset="0"/>
              </a:rPr>
              <a:t>Задачи: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91C542-875E-40BF-B624-9EC2531998B4}"/>
              </a:ext>
            </a:extLst>
          </p:cNvPr>
          <p:cNvSpPr txBox="1"/>
          <p:nvPr/>
        </p:nvSpPr>
        <p:spPr>
          <a:xfrm>
            <a:off x="1752600" y="3606800"/>
            <a:ext cx="9271000" cy="120545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500">
                <a:solidFill>
                  <a:srgbClr val="222222"/>
                </a:solidFill>
                <a:latin typeface="Century Gothic" panose="020B0502020202020204" pitchFamily="34" charset="0"/>
              </a:rPr>
              <a:t>- проанализировать предметную область и аналоги;</a:t>
            </a:r>
          </a:p>
          <a:p>
            <a:r>
              <a:rPr lang="ru-RU" sz="1500">
                <a:solidFill>
                  <a:srgbClr val="222222"/>
                </a:solidFill>
                <a:latin typeface="Century Gothic" panose="020B0502020202020204" pitchFamily="34" charset="0"/>
              </a:rPr>
              <a:t>- выбрать инструменты разработки VR-приложения;</a:t>
            </a:r>
          </a:p>
          <a:p>
            <a:r>
              <a:rPr lang="ru-RU" sz="1500">
                <a:solidFill>
                  <a:srgbClr val="222222"/>
                </a:solidFill>
                <a:latin typeface="Century Gothic" panose="020B0502020202020204" pitchFamily="34" charset="0"/>
              </a:rPr>
              <a:t>- реализовать меню, таймер, кликер, переключение слайдов и реакции аудитории;</a:t>
            </a:r>
          </a:p>
          <a:p>
            <a:r>
              <a:rPr lang="ru-RU" sz="1500">
                <a:solidFill>
                  <a:srgbClr val="222222"/>
                </a:solidFill>
                <a:latin typeface="Century Gothic" panose="020B0502020202020204" pitchFamily="34" charset="0"/>
              </a:rPr>
              <a:t>- обеспечить управление в VR и тестовый PC-режим;</a:t>
            </a:r>
          </a:p>
          <a:p>
            <a:r>
              <a:rPr lang="ru-RU" sz="1500">
                <a:solidFill>
                  <a:srgbClr val="222222"/>
                </a:solidFill>
                <a:latin typeface="Century Gothic" panose="020B0502020202020204" pitchFamily="34" charset="0"/>
              </a:rPr>
              <a:t>- провести пользовательское и интеграционное тестирование.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920788-8163-4F38-9256-ACABCF0DCE15}"/>
              </a:ext>
            </a:extLst>
          </p:cNvPr>
          <p:cNvSpPr txBox="1"/>
          <p:nvPr/>
        </p:nvSpPr>
        <p:spPr>
          <a:xfrm>
            <a:off x="11684000" y="6477000"/>
            <a:ext cx="3175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800">
                <a:solidFill>
                  <a:srgbClr val="999999"/>
                </a:solidFill>
                <a:latin typeface="Century Gothic" panose="020B0502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18912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9799" y="279400"/>
            <a:ext cx="10414000" cy="787400"/>
          </a:xfrm>
        </p:spPr>
        <p:txBody>
          <a:bodyPr>
            <a:normAutofit/>
          </a:bodyPr>
          <a:lstStyle/>
          <a:p>
            <a:r>
              <a:rPr lang="ru-RU" sz="2400" b="1">
                <a:solidFill>
                  <a:srgbClr val="222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Анализ аналогов и свободная ниша</a:t>
            </a:r>
            <a:endParaRPr lang="ru-RU" sz="2400" b="1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0F413B-3553-4842-A5FA-A35EE56025E4}"/>
              </a:ext>
            </a:extLst>
          </p:cNvPr>
          <p:cNvSpPr txBox="1"/>
          <p:nvPr/>
        </p:nvSpPr>
        <p:spPr>
          <a:xfrm>
            <a:off x="1117600" y="1168400"/>
            <a:ext cx="100330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400">
                <a:solidFill>
                  <a:srgbClr val="222222"/>
                </a:solidFill>
                <a:latin typeface="Century Gothic" panose="020B0502020202020204" pitchFamily="34" charset="0"/>
              </a:rPr>
              <a:t>Существующие решения закрывают отдельные части задачи, но не дают простой учебный Unity-проект, который можно доработать под дипломную защиту и запустить как на ПК, так и в VR.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6EE0F52-75D2-4CC8-9F44-E43715E97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904089"/>
              </p:ext>
            </p:extLst>
          </p:nvPr>
        </p:nvGraphicFramePr>
        <p:xfrm>
          <a:off x="1117600" y="2095500"/>
          <a:ext cx="10223499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7833">
                  <a:extLst>
                    <a:ext uri="{9D8B030D-6E8A-4147-A177-3AD203B41FA5}">
                      <a16:colId xmlns:a16="http://schemas.microsoft.com/office/drawing/2014/main" val="3654788200"/>
                    </a:ext>
                  </a:extLst>
                </a:gridCol>
                <a:gridCol w="3407833">
                  <a:extLst>
                    <a:ext uri="{9D8B030D-6E8A-4147-A177-3AD203B41FA5}">
                      <a16:colId xmlns:a16="http://schemas.microsoft.com/office/drawing/2014/main" val="2403620879"/>
                    </a:ext>
                  </a:extLst>
                </a:gridCol>
                <a:gridCol w="3407833">
                  <a:extLst>
                    <a:ext uri="{9D8B030D-6E8A-4147-A177-3AD203B41FA5}">
                      <a16:colId xmlns:a16="http://schemas.microsoft.com/office/drawing/2014/main" val="105768239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Решение</a:t>
                      </a:r>
                    </a:p>
                  </a:txBody>
                  <a:tcPr marL="50800" marR="50800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Сильная сторона</a:t>
                      </a:r>
                    </a:p>
                  </a:txBody>
                  <a:tcPr marL="50800" marR="50800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Ограничение для проекта</a:t>
                      </a:r>
                    </a:p>
                  </a:txBody>
                  <a:tcPr marL="50800" marR="50800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10059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VirtualSpeech</a:t>
                      </a:r>
                      <a:endParaRPr lang="ru-RU" sz="1000" b="0">
                        <a:solidFill>
                          <a:srgbClr val="22222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готовые </a:t>
                      </a:r>
                      <a:r>
                        <a:rPr lang="en-US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VR-</a:t>
                      </a:r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сценарии обучения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закрытая платформа, ограниченная доработка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0324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Ovation VR</a:t>
                      </a:r>
                      <a:endParaRPr lang="ru-RU" sz="1000" b="0">
                        <a:solidFill>
                          <a:srgbClr val="22222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аналитика речи и тренировки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ориентация на коммерческое обучение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30174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PowerPoint + </a:t>
                      </a:r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репетиция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простота и знакомый формат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нет эффекта присутствия аудитории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17633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Очная репетиция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реальная обратная связь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нужно собирать аудиторию и помещение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42716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PublicSpeakingVR</a:t>
                      </a:r>
                      <a:endParaRPr lang="ru-RU" sz="1000" b="0">
                        <a:solidFill>
                          <a:srgbClr val="22222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открытая логика, </a:t>
                      </a:r>
                      <a:r>
                        <a:rPr lang="en-US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Unity, HTC Vive Focus 3</a:t>
                      </a:r>
                      <a:endParaRPr lang="ru-RU" sz="1000" b="0">
                        <a:solidFill>
                          <a:srgbClr val="22222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требует дальнейшего расширения аналитики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5919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801650D-84F7-4D53-A063-1F6A52966164}"/>
              </a:ext>
            </a:extLst>
          </p:cNvPr>
          <p:cNvSpPr txBox="1"/>
          <p:nvPr/>
        </p:nvSpPr>
        <p:spPr>
          <a:xfrm>
            <a:off x="1168400" y="5461000"/>
            <a:ext cx="99060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400" b="1">
                <a:solidFill>
                  <a:srgbClr val="222222"/>
                </a:solidFill>
                <a:latin typeface="Century Gothic" panose="020B0502020202020204" pitchFamily="34" charset="0"/>
              </a:rPr>
              <a:t>Новизна проекта: учебный VR-тренажер объединяет аудиторию, регламент, слайды, кликер, реакцию зала и режим проверки без гарнитуры.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802057-AC32-4648-B7A1-DFDB071BA31B}"/>
              </a:ext>
            </a:extLst>
          </p:cNvPr>
          <p:cNvSpPr txBox="1"/>
          <p:nvPr/>
        </p:nvSpPr>
        <p:spPr>
          <a:xfrm>
            <a:off x="11684000" y="6477000"/>
            <a:ext cx="3175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800">
                <a:solidFill>
                  <a:srgbClr val="999999"/>
                </a:solidFill>
                <a:latin typeface="Century Gothic" panose="020B0502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37712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9799" y="279400"/>
            <a:ext cx="10414000" cy="787400"/>
          </a:xfrm>
        </p:spPr>
        <p:txBody>
          <a:bodyPr>
            <a:normAutofit/>
          </a:bodyPr>
          <a:lstStyle/>
          <a:p>
            <a:r>
              <a:rPr lang="ru-RU" sz="2400" b="1">
                <a:solidFill>
                  <a:srgbClr val="222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Обоснование выбора технологий</a:t>
            </a:r>
            <a:endParaRPr lang="ru-RU" sz="2400" b="1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1180001-09F7-4115-8153-49307C53E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242790"/>
              </p:ext>
            </p:extLst>
          </p:nvPr>
        </p:nvGraphicFramePr>
        <p:xfrm>
          <a:off x="952500" y="1333500"/>
          <a:ext cx="10350500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625">
                  <a:extLst>
                    <a:ext uri="{9D8B030D-6E8A-4147-A177-3AD203B41FA5}">
                      <a16:colId xmlns:a16="http://schemas.microsoft.com/office/drawing/2014/main" val="114516629"/>
                    </a:ext>
                  </a:extLst>
                </a:gridCol>
                <a:gridCol w="2587625">
                  <a:extLst>
                    <a:ext uri="{9D8B030D-6E8A-4147-A177-3AD203B41FA5}">
                      <a16:colId xmlns:a16="http://schemas.microsoft.com/office/drawing/2014/main" val="4005589103"/>
                    </a:ext>
                  </a:extLst>
                </a:gridCol>
                <a:gridCol w="2587625">
                  <a:extLst>
                    <a:ext uri="{9D8B030D-6E8A-4147-A177-3AD203B41FA5}">
                      <a16:colId xmlns:a16="http://schemas.microsoft.com/office/drawing/2014/main" val="1463633596"/>
                    </a:ext>
                  </a:extLst>
                </a:gridCol>
                <a:gridCol w="2587625">
                  <a:extLst>
                    <a:ext uri="{9D8B030D-6E8A-4147-A177-3AD203B41FA5}">
                      <a16:colId xmlns:a16="http://schemas.microsoft.com/office/drawing/2014/main" val="30545076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Инструмент</a:t>
                      </a:r>
                    </a:p>
                  </a:txBody>
                  <a:tcPr marL="50800" marR="50800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Плюсы</a:t>
                      </a:r>
                    </a:p>
                  </a:txBody>
                  <a:tcPr marL="50800" marR="50800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Минусы</a:t>
                      </a:r>
                    </a:p>
                  </a:txBody>
                  <a:tcPr marL="50800" marR="50800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Вывод</a:t>
                      </a:r>
                    </a:p>
                  </a:txBody>
                  <a:tcPr marL="50800" marR="50800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377640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Unity 2022.3 LTS</a:t>
                      </a:r>
                      <a:endParaRPr lang="ru-RU" sz="1000" b="0">
                        <a:solidFill>
                          <a:srgbClr val="22222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C#, XR Interaction Toolkit, OpenXR, </a:t>
                      </a:r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быстрый прототип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часть VR-настроек требует ручной проверки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выбран для проекта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502639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Unreal Engine</a:t>
                      </a:r>
                      <a:endParaRPr lang="ru-RU" sz="1000" b="0">
                        <a:solidFill>
                          <a:srgbClr val="22222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высокое качество графики, </a:t>
                      </a:r>
                      <a:r>
                        <a:rPr lang="en-US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Blueprints</a:t>
                      </a:r>
                      <a:endParaRPr lang="ru-RU" sz="1000" b="0">
                        <a:solidFill>
                          <a:srgbClr val="22222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выше порог входа, тяжелее сборки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избыточен для дипломного прототипа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533041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Godot</a:t>
                      </a:r>
                      <a:endParaRPr lang="ru-RU" sz="1000" b="0">
                        <a:solidFill>
                          <a:srgbClr val="22222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открытый движок, легкий проект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VR-экосистема слабее для Vive/OpenXR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риск по совместимости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132976"/>
                  </a:ext>
                </a:extLst>
              </a:tr>
            </a:tbl>
          </a:graphicData>
        </a:graphic>
      </p:graphicFrame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E54A674-BC6A-4827-A19E-942454726D29}"/>
              </a:ext>
            </a:extLst>
          </p:cNvPr>
          <p:cNvSpPr/>
          <p:nvPr/>
        </p:nvSpPr>
        <p:spPr>
          <a:xfrm>
            <a:off x="1206500" y="4191000"/>
            <a:ext cx="1841500" cy="889000"/>
          </a:xfrm>
          <a:prstGeom prst="roundRect">
            <a:avLst/>
          </a:prstGeom>
          <a:solidFill>
            <a:srgbClr val="F7F7F7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/>
            <a:r>
              <a:rPr lang="en-US" sz="1300" b="1">
                <a:solidFill>
                  <a:srgbClr val="222222"/>
                </a:solidFill>
                <a:latin typeface="Century Gothic" panose="020B0502020202020204" pitchFamily="34" charset="0"/>
              </a:rPr>
              <a:t>C#</a:t>
            </a:r>
          </a:p>
          <a:p>
            <a:pPr algn="ctr"/>
            <a:r>
              <a:rPr lang="ru-RU" sz="1300" b="1">
                <a:solidFill>
                  <a:srgbClr val="222222"/>
                </a:solidFill>
                <a:latin typeface="Century Gothic" panose="020B0502020202020204" pitchFamily="34" charset="0"/>
              </a:rPr>
              <a:t>основная логика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C0D1237-AB86-4E39-9CB9-2244C688BE97}"/>
              </a:ext>
            </a:extLst>
          </p:cNvPr>
          <p:cNvSpPr/>
          <p:nvPr/>
        </p:nvSpPr>
        <p:spPr>
          <a:xfrm>
            <a:off x="3556000" y="4191000"/>
            <a:ext cx="1841500" cy="889000"/>
          </a:xfrm>
          <a:prstGeom prst="roundRect">
            <a:avLst/>
          </a:prstGeom>
          <a:solidFill>
            <a:srgbClr val="F7F7F7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/>
            <a:r>
              <a:rPr lang="en-US" sz="1300" b="1">
                <a:solidFill>
                  <a:srgbClr val="222222"/>
                </a:solidFill>
                <a:latin typeface="Century Gothic" panose="020B0502020202020204" pitchFamily="34" charset="0"/>
              </a:rPr>
              <a:t>OpenXR</a:t>
            </a:r>
          </a:p>
          <a:p>
            <a:pPr algn="ctr"/>
            <a:r>
              <a:rPr lang="ru-RU" sz="1300" b="1">
                <a:solidFill>
                  <a:srgbClr val="222222"/>
                </a:solidFill>
                <a:latin typeface="Century Gothic" panose="020B0502020202020204" pitchFamily="34" charset="0"/>
              </a:rPr>
              <a:t>запуск на </a:t>
            </a:r>
            <a:r>
              <a:rPr lang="en-US" sz="1300" b="1">
                <a:solidFill>
                  <a:srgbClr val="222222"/>
                </a:solidFill>
                <a:latin typeface="Century Gothic" panose="020B0502020202020204" pitchFamily="34" charset="0"/>
              </a:rPr>
              <a:t>Vive</a:t>
            </a:r>
            <a:endParaRPr lang="ru-RU" sz="1300" b="1">
              <a:solidFill>
                <a:srgbClr val="222222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8FF9E634-DC6C-467A-AF35-66B647A5747A}"/>
              </a:ext>
            </a:extLst>
          </p:cNvPr>
          <p:cNvSpPr/>
          <p:nvPr/>
        </p:nvSpPr>
        <p:spPr>
          <a:xfrm>
            <a:off x="5905500" y="4191000"/>
            <a:ext cx="2286000" cy="889000"/>
          </a:xfrm>
          <a:prstGeom prst="roundRect">
            <a:avLst/>
          </a:prstGeom>
          <a:solidFill>
            <a:srgbClr val="F7F7F7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/>
            <a:r>
              <a:rPr lang="ru-RU" sz="1300" b="1">
                <a:solidFill>
                  <a:srgbClr val="222222"/>
                </a:solidFill>
                <a:latin typeface="Century Gothic" panose="020B0502020202020204" pitchFamily="34" charset="0"/>
              </a:rPr>
              <a:t>XR Interaction Toolkit</a:t>
            </a:r>
          </a:p>
          <a:p>
            <a:pPr algn="ctr"/>
            <a:r>
              <a:rPr lang="ru-RU" sz="1300" b="1">
                <a:solidFill>
                  <a:srgbClr val="222222"/>
                </a:solidFill>
                <a:latin typeface="Century Gothic" panose="020B0502020202020204" pitchFamily="34" charset="0"/>
              </a:rPr>
              <a:t>лучи и контроллеры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8E2BD4D3-459A-4DA4-A5E6-51B0A455CAB0}"/>
              </a:ext>
            </a:extLst>
          </p:cNvPr>
          <p:cNvSpPr/>
          <p:nvPr/>
        </p:nvSpPr>
        <p:spPr>
          <a:xfrm>
            <a:off x="8763000" y="4191000"/>
            <a:ext cx="1841500" cy="889000"/>
          </a:xfrm>
          <a:prstGeom prst="roundRect">
            <a:avLst/>
          </a:prstGeom>
          <a:solidFill>
            <a:srgbClr val="F7F7F7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/>
            <a:r>
              <a:rPr lang="en-US" sz="1300" b="1">
                <a:solidFill>
                  <a:srgbClr val="222222"/>
                </a:solidFill>
                <a:latin typeface="Century Gothic" panose="020B0502020202020204" pitchFamily="34" charset="0"/>
              </a:rPr>
              <a:t>TextMesh Pro</a:t>
            </a:r>
          </a:p>
          <a:p>
            <a:pPr algn="ctr"/>
            <a:r>
              <a:rPr lang="en-US" sz="1300" b="1">
                <a:solidFill>
                  <a:srgbClr val="222222"/>
                </a:solidFill>
                <a:latin typeface="Century Gothic" panose="020B0502020202020204" pitchFamily="34" charset="0"/>
              </a:rPr>
              <a:t>UI </a:t>
            </a:r>
            <a:r>
              <a:rPr lang="ru-RU" sz="1300" b="1">
                <a:solidFill>
                  <a:srgbClr val="222222"/>
                </a:solidFill>
                <a:latin typeface="Century Gothic" panose="020B0502020202020204" pitchFamily="34" charset="0"/>
              </a:rPr>
              <a:t>и таймер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96A0BA-A737-4142-BF8A-E2A9EB47697C}"/>
              </a:ext>
            </a:extLst>
          </p:cNvPr>
          <p:cNvSpPr txBox="1"/>
          <p:nvPr/>
        </p:nvSpPr>
        <p:spPr>
          <a:xfrm>
            <a:off x="1168400" y="5562600"/>
            <a:ext cx="99060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400">
                <a:solidFill>
                  <a:srgbClr val="222222"/>
                </a:solidFill>
                <a:latin typeface="Century Gothic" panose="020B0502020202020204" pitchFamily="34" charset="0"/>
              </a:rPr>
              <a:t>Выбранный стек позволяет сохранить редактируемый проект Unity и не привязывает реализацию к одной модели гарнитуры.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59F415-A2BA-4193-BAE7-CCF86E8E66AA}"/>
              </a:ext>
            </a:extLst>
          </p:cNvPr>
          <p:cNvSpPr txBox="1"/>
          <p:nvPr/>
        </p:nvSpPr>
        <p:spPr>
          <a:xfrm>
            <a:off x="11684000" y="6477000"/>
            <a:ext cx="3175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800">
                <a:solidFill>
                  <a:srgbClr val="999999"/>
                </a:solidFill>
                <a:latin typeface="Century Gothic" panose="020B0502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90259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9799" y="279400"/>
            <a:ext cx="10414000" cy="787400"/>
          </a:xfrm>
        </p:spPr>
        <p:txBody>
          <a:bodyPr>
            <a:normAutofit/>
          </a:bodyPr>
          <a:lstStyle/>
          <a:p>
            <a:r>
              <a:rPr lang="ru-RU" sz="2400" b="1">
                <a:solidFill>
                  <a:srgbClr val="222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Проектирование приложения</a:t>
            </a:r>
            <a:endParaRPr lang="ru-RU" sz="2400" b="1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DEF8C5-367E-4178-BC14-E8F4B7EE72DC}"/>
              </a:ext>
            </a:extLst>
          </p:cNvPr>
          <p:cNvSpPr txBox="1"/>
          <p:nvPr/>
        </p:nvSpPr>
        <p:spPr>
          <a:xfrm>
            <a:off x="1117600" y="1219200"/>
            <a:ext cx="4445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500" b="1">
                <a:solidFill>
                  <a:srgbClr val="222222"/>
                </a:solidFill>
                <a:latin typeface="Century Gothic" panose="020B0502020202020204" pitchFamily="34" charset="0"/>
              </a:rPr>
              <a:t>Функциональные требования: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6FAFE5-C135-4E08-88F4-45F78FDFA914}"/>
              </a:ext>
            </a:extLst>
          </p:cNvPr>
          <p:cNvSpPr txBox="1"/>
          <p:nvPr/>
        </p:nvSpPr>
        <p:spPr>
          <a:xfrm>
            <a:off x="1320800" y="1676400"/>
            <a:ext cx="4826000" cy="155940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400">
                <a:solidFill>
                  <a:srgbClr val="222222"/>
                </a:solidFill>
                <a:latin typeface="Century Gothic" panose="020B0502020202020204" pitchFamily="34" charset="0"/>
              </a:rPr>
              <a:t>- главное меню с выбором длительности;</a:t>
            </a:r>
          </a:p>
          <a:p>
            <a:r>
              <a:rPr lang="ru-RU" sz="1400">
                <a:solidFill>
                  <a:srgbClr val="222222"/>
                </a:solidFill>
                <a:latin typeface="Century Gothic" panose="020B0502020202020204" pitchFamily="34" charset="0"/>
              </a:rPr>
              <a:t>- запуск тренировки в отдельной сцене;</a:t>
            </a:r>
          </a:p>
          <a:p>
            <a:r>
              <a:rPr lang="ru-RU" sz="1400">
                <a:solidFill>
                  <a:srgbClr val="222222"/>
                </a:solidFill>
                <a:latin typeface="Century Gothic" panose="020B0502020202020204" pitchFamily="34" charset="0"/>
              </a:rPr>
              <a:t>- таймер выступления со стартом и паузой;</a:t>
            </a:r>
          </a:p>
          <a:p>
            <a:r>
              <a:rPr lang="ru-RU" sz="1400">
                <a:solidFill>
                  <a:srgbClr val="222222"/>
                </a:solidFill>
                <a:latin typeface="Century Gothic" panose="020B0502020202020204" pitchFamily="34" charset="0"/>
              </a:rPr>
              <a:t>- переключение слайдов кликером;</a:t>
            </a:r>
          </a:p>
          <a:p>
            <a:r>
              <a:rPr lang="ru-RU" sz="1400">
                <a:solidFill>
                  <a:srgbClr val="222222"/>
                </a:solidFill>
                <a:latin typeface="Century Gothic" panose="020B0502020202020204" pitchFamily="34" charset="0"/>
              </a:rPr>
              <a:t>- положительная и отрицательная реакция аудитории;</a:t>
            </a:r>
          </a:p>
          <a:p>
            <a:r>
              <a:rPr lang="ru-RU" sz="1400">
                <a:solidFill>
                  <a:srgbClr val="222222"/>
                </a:solidFill>
                <a:latin typeface="Century Gothic" panose="020B0502020202020204" pitchFamily="34" charset="0"/>
              </a:rPr>
              <a:t>- управление VR-контроллерами и fallback для ПК.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2998AE-0226-4E34-88B9-F785B4112021}"/>
              </a:ext>
            </a:extLst>
          </p:cNvPr>
          <p:cNvSpPr txBox="1"/>
          <p:nvPr/>
        </p:nvSpPr>
        <p:spPr>
          <a:xfrm>
            <a:off x="6794500" y="1219200"/>
            <a:ext cx="4191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500" b="1">
                <a:solidFill>
                  <a:srgbClr val="222222"/>
                </a:solidFill>
                <a:latin typeface="Century Gothic" panose="020B0502020202020204" pitchFamily="34" charset="0"/>
              </a:rPr>
              <a:t>Пользовательский сценарий: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ECA75B18-CDB5-419C-B9A5-A41C6908E234}"/>
              </a:ext>
            </a:extLst>
          </p:cNvPr>
          <p:cNvSpPr/>
          <p:nvPr/>
        </p:nvSpPr>
        <p:spPr>
          <a:xfrm>
            <a:off x="6705600" y="1714500"/>
            <a:ext cx="1841500" cy="660400"/>
          </a:xfrm>
          <a:prstGeom prst="round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/>
            <a:r>
              <a:rPr lang="ru-RU" sz="1200" b="1">
                <a:solidFill>
                  <a:srgbClr val="222222"/>
                </a:solidFill>
                <a:latin typeface="Century Gothic" panose="020B0502020202020204" pitchFamily="34" charset="0"/>
              </a:rPr>
              <a:t>Выбор времени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A57C622-F0F8-4C32-8F20-A11B2EEC4178}"/>
              </a:ext>
            </a:extLst>
          </p:cNvPr>
          <p:cNvSpPr/>
          <p:nvPr/>
        </p:nvSpPr>
        <p:spPr>
          <a:xfrm>
            <a:off x="8940800" y="1714500"/>
            <a:ext cx="1905000" cy="660400"/>
          </a:xfrm>
          <a:prstGeom prst="round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/>
            <a:r>
              <a:rPr lang="ru-RU" sz="1200" b="1">
                <a:solidFill>
                  <a:srgbClr val="222222"/>
                </a:solidFill>
                <a:latin typeface="Century Gothic" panose="020B0502020202020204" pitchFamily="34" charset="0"/>
              </a:rPr>
              <a:t>Начало тренировки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8D1436F-9E33-4073-9C54-CF7E3452B170}"/>
              </a:ext>
            </a:extLst>
          </p:cNvPr>
          <p:cNvSpPr/>
          <p:nvPr/>
        </p:nvSpPr>
        <p:spPr>
          <a:xfrm>
            <a:off x="6705600" y="2857500"/>
            <a:ext cx="18415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/>
            <a:r>
              <a:rPr lang="ru-RU" sz="1200" b="1">
                <a:solidFill>
                  <a:srgbClr val="222222"/>
                </a:solidFill>
                <a:latin typeface="Century Gothic" panose="020B0502020202020204" pitchFamily="34" charset="0"/>
              </a:rPr>
              <a:t>Выступление</a:t>
            </a:r>
          </a:p>
          <a:p>
            <a:pPr algn="ctr"/>
            <a:r>
              <a:rPr lang="ru-RU" sz="1200" b="1">
                <a:solidFill>
                  <a:srgbClr val="222222"/>
                </a:solidFill>
                <a:latin typeface="Century Gothic" panose="020B0502020202020204" pitchFamily="34" charset="0"/>
              </a:rPr>
              <a:t>со слайдами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F329756-2946-4AF7-8B00-431526750D52}"/>
              </a:ext>
            </a:extLst>
          </p:cNvPr>
          <p:cNvSpPr/>
          <p:nvPr/>
        </p:nvSpPr>
        <p:spPr>
          <a:xfrm>
            <a:off x="8940800" y="2857500"/>
            <a:ext cx="1905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/>
            <a:r>
              <a:rPr lang="ru-RU" sz="1200" b="1">
                <a:solidFill>
                  <a:srgbClr val="222222"/>
                </a:solidFill>
                <a:latin typeface="Century Gothic" panose="020B0502020202020204" pitchFamily="34" charset="0"/>
              </a:rPr>
              <a:t>Реакция зала</a:t>
            </a:r>
          </a:p>
          <a:p>
            <a:pPr algn="ctr"/>
            <a:r>
              <a:rPr lang="ru-RU" sz="1200" b="1">
                <a:solidFill>
                  <a:srgbClr val="222222"/>
                </a:solidFill>
                <a:latin typeface="Century Gothic" panose="020B0502020202020204" pitchFamily="34" charset="0"/>
              </a:rPr>
              <a:t>и результат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C51A3A-BC9E-4A9E-BABF-8F71BD583118}"/>
              </a:ext>
            </a:extLst>
          </p:cNvPr>
          <p:cNvSpPr txBox="1"/>
          <p:nvPr/>
        </p:nvSpPr>
        <p:spPr>
          <a:xfrm>
            <a:off x="11684000" y="6477000"/>
            <a:ext cx="3175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800">
                <a:solidFill>
                  <a:srgbClr val="999999"/>
                </a:solidFill>
                <a:latin typeface="Century Gothic" panose="020B0502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62969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9799" y="279400"/>
            <a:ext cx="10414000" cy="787400"/>
          </a:xfrm>
        </p:spPr>
        <p:txBody>
          <a:bodyPr>
            <a:normAutofit/>
          </a:bodyPr>
          <a:lstStyle/>
          <a:p>
            <a:r>
              <a:rPr lang="ru-RU" sz="2400" b="1">
                <a:solidFill>
                  <a:srgbClr val="222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Реализация: основные модули</a:t>
            </a:r>
            <a:endParaRPr lang="ru-RU" sz="2400" b="1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7DB2A628-C34D-440F-8A19-89A28DF2FFA4}"/>
              </a:ext>
            </a:extLst>
          </p:cNvPr>
          <p:cNvSpPr/>
          <p:nvPr/>
        </p:nvSpPr>
        <p:spPr>
          <a:xfrm>
            <a:off x="939800" y="1397000"/>
            <a:ext cx="2667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/>
            <a:r>
              <a:rPr lang="en-US" sz="1200" b="1">
                <a:solidFill>
                  <a:srgbClr val="222222"/>
                </a:solidFill>
                <a:latin typeface="Century Gothic" panose="020B0502020202020204" pitchFamily="34" charset="0"/>
              </a:rPr>
              <a:t>MainMenuController</a:t>
            </a:r>
          </a:p>
          <a:p>
            <a:pPr algn="ctr"/>
            <a:r>
              <a:rPr lang="ru-RU" sz="1200" b="1">
                <a:solidFill>
                  <a:srgbClr val="222222"/>
                </a:solidFill>
                <a:latin typeface="Century Gothic" panose="020B0502020202020204" pitchFamily="34" charset="0"/>
              </a:rPr>
              <a:t>меню, выбор минут, запуск сцены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5229DFF-DFAB-47D0-8476-4528B001D537}"/>
              </a:ext>
            </a:extLst>
          </p:cNvPr>
          <p:cNvSpPr/>
          <p:nvPr/>
        </p:nvSpPr>
        <p:spPr>
          <a:xfrm>
            <a:off x="4749800" y="1397000"/>
            <a:ext cx="3048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/>
            <a:r>
              <a:rPr lang="en-US" sz="1200" b="1">
                <a:solidFill>
                  <a:srgbClr val="222222"/>
                </a:solidFill>
                <a:latin typeface="Century Gothic" panose="020B0502020202020204" pitchFamily="34" charset="0"/>
              </a:rPr>
              <a:t>PresentationSessionManager</a:t>
            </a:r>
          </a:p>
          <a:p>
            <a:pPr algn="ctr"/>
            <a:r>
              <a:rPr lang="ru-RU" sz="1200" b="1">
                <a:solidFill>
                  <a:srgbClr val="222222"/>
                </a:solidFill>
                <a:latin typeface="Century Gothic" panose="020B0502020202020204" pitchFamily="34" charset="0"/>
              </a:rPr>
              <a:t>связь таймера, слайдов и аудитории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742CDD9-92F5-4A44-90DC-E8C6B88C1B59}"/>
              </a:ext>
            </a:extLst>
          </p:cNvPr>
          <p:cNvSpPr/>
          <p:nvPr/>
        </p:nvSpPr>
        <p:spPr>
          <a:xfrm>
            <a:off x="8940800" y="1397000"/>
            <a:ext cx="2413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/>
            <a:r>
              <a:rPr lang="ru-RU" sz="1200" b="1">
                <a:solidFill>
                  <a:srgbClr val="222222"/>
                </a:solidFill>
                <a:latin typeface="Century Gothic" panose="020B0502020202020204" pitchFamily="34" charset="0"/>
              </a:rPr>
              <a:t>SpeakerTimer</a:t>
            </a:r>
          </a:p>
          <a:p>
            <a:pPr algn="ctr"/>
            <a:r>
              <a:rPr lang="ru-RU" sz="1200" b="1">
                <a:solidFill>
                  <a:srgbClr val="222222"/>
                </a:solidFill>
                <a:latin typeface="Century Gothic" panose="020B0502020202020204" pitchFamily="34" charset="0"/>
              </a:rPr>
              <a:t>старт, пауза, сброс, окончание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ADD1695-A033-48DA-A06C-0AC399A53E46}"/>
              </a:ext>
            </a:extLst>
          </p:cNvPr>
          <p:cNvSpPr/>
          <p:nvPr/>
        </p:nvSpPr>
        <p:spPr>
          <a:xfrm>
            <a:off x="1320800" y="3175000"/>
            <a:ext cx="2667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/>
            <a:r>
              <a:rPr lang="ru-RU" sz="1200" b="1">
                <a:solidFill>
                  <a:srgbClr val="222222"/>
                </a:solidFill>
                <a:latin typeface="Century Gothic" panose="020B0502020202020204" pitchFamily="34" charset="0"/>
              </a:rPr>
              <a:t>SlideChanger</a:t>
            </a:r>
          </a:p>
          <a:p>
            <a:pPr algn="ctr"/>
            <a:r>
              <a:rPr lang="ru-RU" sz="1200" b="1">
                <a:solidFill>
                  <a:srgbClr val="222222"/>
                </a:solidFill>
                <a:latin typeface="Century Gothic" panose="020B0502020202020204" pitchFamily="34" charset="0"/>
              </a:rPr>
              <a:t>порядок слайдов и последний слайд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96FCC81-CF5E-48D5-9373-4323DB51BE23}"/>
              </a:ext>
            </a:extLst>
          </p:cNvPr>
          <p:cNvSpPr/>
          <p:nvPr/>
        </p:nvSpPr>
        <p:spPr>
          <a:xfrm>
            <a:off x="4749800" y="3175000"/>
            <a:ext cx="2794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/>
            <a:r>
              <a:rPr lang="en-US" sz="1200" b="1">
                <a:solidFill>
                  <a:srgbClr val="222222"/>
                </a:solidFill>
                <a:latin typeface="Century Gothic" panose="020B0502020202020204" pitchFamily="34" charset="0"/>
              </a:rPr>
              <a:t>ClickerControls</a:t>
            </a:r>
          </a:p>
          <a:p>
            <a:pPr algn="ctr"/>
            <a:r>
              <a:rPr lang="ru-RU" sz="1200" b="1">
                <a:solidFill>
                  <a:srgbClr val="222222"/>
                </a:solidFill>
                <a:latin typeface="Century Gothic" panose="020B0502020202020204" pitchFamily="34" charset="0"/>
              </a:rPr>
              <a:t>переключение презентации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702B7F9-BDA0-4EB9-BEAE-CE894B48B816}"/>
              </a:ext>
            </a:extLst>
          </p:cNvPr>
          <p:cNvSpPr/>
          <p:nvPr/>
        </p:nvSpPr>
        <p:spPr>
          <a:xfrm>
            <a:off x="8559800" y="3175000"/>
            <a:ext cx="2794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/>
            <a:r>
              <a:rPr lang="en-US" sz="1200" b="1">
                <a:solidFill>
                  <a:srgbClr val="222222"/>
                </a:solidFill>
                <a:latin typeface="Century Gothic" panose="020B0502020202020204" pitchFamily="34" charset="0"/>
              </a:rPr>
              <a:t>AudienceReactionController</a:t>
            </a:r>
          </a:p>
          <a:p>
            <a:pPr algn="ctr"/>
            <a:r>
              <a:rPr lang="ru-RU" sz="1200" b="1">
                <a:solidFill>
                  <a:srgbClr val="222222"/>
                </a:solidFill>
                <a:latin typeface="Century Gothic" panose="020B0502020202020204" pitchFamily="34" charset="0"/>
              </a:rPr>
              <a:t>анимации и звуки аудитории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28B7FB-2495-4096-9B92-93CEF24F88AE}"/>
              </a:ext>
            </a:extLst>
          </p:cNvPr>
          <p:cNvSpPr txBox="1"/>
          <p:nvPr/>
        </p:nvSpPr>
        <p:spPr>
          <a:xfrm>
            <a:off x="1168400" y="5143500"/>
            <a:ext cx="10033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500">
                <a:solidFill>
                  <a:srgbClr val="222222"/>
                </a:solidFill>
                <a:latin typeface="Century Gothic" panose="020B0502020202020204" pitchFamily="34" charset="0"/>
              </a:rPr>
              <a:t>Модули связаны событиями: смена слайда и завершение таймера вызывают сценарии реакции аудитории и остановку тренировки.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CAA8F-5E82-4911-8CA4-3667BAEBEF85}"/>
              </a:ext>
            </a:extLst>
          </p:cNvPr>
          <p:cNvSpPr txBox="1"/>
          <p:nvPr/>
        </p:nvSpPr>
        <p:spPr>
          <a:xfrm>
            <a:off x="11684000" y="6477000"/>
            <a:ext cx="3175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800">
                <a:solidFill>
                  <a:srgbClr val="999999"/>
                </a:solidFill>
                <a:latin typeface="Century Gothic" panose="020B0502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63720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9799" y="279400"/>
            <a:ext cx="10414000" cy="787400"/>
          </a:xfrm>
        </p:spPr>
        <p:txBody>
          <a:bodyPr>
            <a:normAutofit/>
          </a:bodyPr>
          <a:lstStyle/>
          <a:p>
            <a:r>
              <a:rPr lang="en-US" sz="2400" b="1">
                <a:solidFill>
                  <a:srgbClr val="222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VR-</a:t>
            </a:r>
            <a:r>
              <a:rPr lang="ru-RU" sz="2400" b="1">
                <a:solidFill>
                  <a:srgbClr val="222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взаимодействие и управление</a:t>
            </a:r>
            <a:endParaRPr lang="ru-RU" sz="2400" b="1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E08DAD2-7B1D-4499-B8D4-76F7B1B08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924455"/>
              </p:ext>
            </p:extLst>
          </p:nvPr>
        </p:nvGraphicFramePr>
        <p:xfrm>
          <a:off x="1117600" y="1397000"/>
          <a:ext cx="10223499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7833">
                  <a:extLst>
                    <a:ext uri="{9D8B030D-6E8A-4147-A177-3AD203B41FA5}">
                      <a16:colId xmlns:a16="http://schemas.microsoft.com/office/drawing/2014/main" val="3867202684"/>
                    </a:ext>
                  </a:extLst>
                </a:gridCol>
                <a:gridCol w="3407833">
                  <a:extLst>
                    <a:ext uri="{9D8B030D-6E8A-4147-A177-3AD203B41FA5}">
                      <a16:colId xmlns:a16="http://schemas.microsoft.com/office/drawing/2014/main" val="4023193607"/>
                    </a:ext>
                  </a:extLst>
                </a:gridCol>
                <a:gridCol w="3407833">
                  <a:extLst>
                    <a:ext uri="{9D8B030D-6E8A-4147-A177-3AD203B41FA5}">
                      <a16:colId xmlns:a16="http://schemas.microsoft.com/office/drawing/2014/main" val="91776768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r>
                        <a:rPr lang="ru-RU" sz="11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Элемент</a:t>
                      </a:r>
                    </a:p>
                  </a:txBody>
                  <a:tcPr marL="50800" marR="50800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Назначение</a:t>
                      </a:r>
                    </a:p>
                  </a:txBody>
                  <a:tcPr marL="50800" marR="50800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Как используется</a:t>
                      </a:r>
                    </a:p>
                  </a:txBody>
                  <a:tcPr marL="50800" marR="50800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3063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XR Origin</a:t>
                      </a:r>
                      <a:endParaRPr lang="ru-RU" sz="1100" b="0">
                        <a:solidFill>
                          <a:srgbClr val="22222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позиция пользователя и камера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загружается в меню и основной сцене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13486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XR Interaction Setup</a:t>
                      </a:r>
                      <a:endParaRPr lang="ru-RU" sz="1100" b="0">
                        <a:solidFill>
                          <a:srgbClr val="22222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лучи контроллеров и ввод UI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позволяет нажимать кнопки меню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00851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VRThumbstickMovement</a:t>
                      </a:r>
                      <a:endParaRPr lang="ru-RU" sz="1100" b="0">
                        <a:solidFill>
                          <a:srgbClr val="22222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перемещение и поворот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левый стик - движение, правый - поворот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25870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PCControlFallback</a:t>
                      </a:r>
                      <a:endParaRPr lang="ru-RU" sz="1100" b="0">
                        <a:solidFill>
                          <a:srgbClr val="22222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проверка без гарнитуры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WASD + мышь, клавиши для тестирования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972467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1A3B6D81-CEA2-432F-9C33-928A56AF5A2B}"/>
              </a:ext>
            </a:extLst>
          </p:cNvPr>
          <p:cNvSpPr/>
          <p:nvPr/>
        </p:nvSpPr>
        <p:spPr>
          <a:xfrm>
            <a:off x="1587500" y="4318000"/>
            <a:ext cx="2286000" cy="812800"/>
          </a:xfrm>
          <a:prstGeom prst="roundRect">
            <a:avLst/>
          </a:prstGeom>
          <a:solidFill>
            <a:srgbClr val="F7F7F7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/>
            <a:r>
              <a:rPr lang="en-US" sz="1300" b="1">
                <a:solidFill>
                  <a:srgbClr val="222222"/>
                </a:solidFill>
                <a:latin typeface="Century Gothic" panose="020B0502020202020204" pitchFamily="34" charset="0"/>
              </a:rPr>
              <a:t>Trigger</a:t>
            </a:r>
          </a:p>
          <a:p>
            <a:pPr algn="ctr"/>
            <a:r>
              <a:rPr lang="ru-RU" sz="1300" b="1">
                <a:solidFill>
                  <a:srgbClr val="222222"/>
                </a:solidFill>
                <a:latin typeface="Century Gothic" panose="020B0502020202020204" pitchFamily="34" charset="0"/>
              </a:rPr>
              <a:t>нажатие кнопок </a:t>
            </a:r>
            <a:r>
              <a:rPr lang="en-US" sz="1300" b="1">
                <a:solidFill>
                  <a:srgbClr val="222222"/>
                </a:solidFill>
                <a:latin typeface="Century Gothic" panose="020B0502020202020204" pitchFamily="34" charset="0"/>
              </a:rPr>
              <a:t>UI</a:t>
            </a:r>
            <a:endParaRPr lang="ru-RU" sz="1300" b="1">
              <a:solidFill>
                <a:srgbClr val="222222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005B711-DCC3-43AD-8840-C28F8A41A8A5}"/>
              </a:ext>
            </a:extLst>
          </p:cNvPr>
          <p:cNvSpPr/>
          <p:nvPr/>
        </p:nvSpPr>
        <p:spPr>
          <a:xfrm>
            <a:off x="4953000" y="4318000"/>
            <a:ext cx="2286000" cy="812800"/>
          </a:xfrm>
          <a:prstGeom prst="roundRect">
            <a:avLst/>
          </a:prstGeom>
          <a:solidFill>
            <a:srgbClr val="F7F7F7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/>
            <a:r>
              <a:rPr lang="en-US" sz="1300" b="1">
                <a:solidFill>
                  <a:srgbClr val="222222"/>
                </a:solidFill>
                <a:latin typeface="Century Gothic" panose="020B0502020202020204" pitchFamily="34" charset="0"/>
              </a:rPr>
              <a:t>Grip</a:t>
            </a:r>
          </a:p>
          <a:p>
            <a:pPr algn="ctr"/>
            <a:r>
              <a:rPr lang="ru-RU" sz="1300" b="1">
                <a:solidFill>
                  <a:srgbClr val="222222"/>
                </a:solidFill>
                <a:latin typeface="Century Gothic" panose="020B0502020202020204" pitchFamily="34" charset="0"/>
              </a:rPr>
              <a:t>захват объектов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4441C4-E6A8-4DCB-9BC6-5F9C22AEA789}"/>
              </a:ext>
            </a:extLst>
          </p:cNvPr>
          <p:cNvSpPr/>
          <p:nvPr/>
        </p:nvSpPr>
        <p:spPr>
          <a:xfrm>
            <a:off x="8318500" y="4318000"/>
            <a:ext cx="2413000" cy="812800"/>
          </a:xfrm>
          <a:prstGeom prst="roundRect">
            <a:avLst/>
          </a:prstGeom>
          <a:solidFill>
            <a:srgbClr val="F7F7F7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/>
            <a:r>
              <a:rPr lang="en-US" sz="1300" b="1">
                <a:solidFill>
                  <a:srgbClr val="222222"/>
                </a:solidFill>
                <a:latin typeface="Century Gothic" panose="020B0502020202020204" pitchFamily="34" charset="0"/>
              </a:rPr>
              <a:t>Primary 2D Axis</a:t>
            </a:r>
          </a:p>
          <a:p>
            <a:pPr algn="ctr"/>
            <a:r>
              <a:rPr lang="ru-RU" sz="1300" b="1">
                <a:solidFill>
                  <a:srgbClr val="222222"/>
                </a:solidFill>
                <a:latin typeface="Century Gothic" panose="020B0502020202020204" pitchFamily="34" charset="0"/>
              </a:rPr>
              <a:t>передвижение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7EFA38-C27A-422D-9B06-5747A2CB324B}"/>
              </a:ext>
            </a:extLst>
          </p:cNvPr>
          <p:cNvSpPr txBox="1"/>
          <p:nvPr/>
        </p:nvSpPr>
        <p:spPr>
          <a:xfrm>
            <a:off x="11684000" y="6477000"/>
            <a:ext cx="3175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800">
                <a:solidFill>
                  <a:srgbClr val="999999"/>
                </a:solidFill>
                <a:latin typeface="Century Gothic" panose="020B0502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8384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9000" y="233219"/>
            <a:ext cx="10414000" cy="787400"/>
          </a:xfrm>
        </p:spPr>
        <p:txBody>
          <a:bodyPr>
            <a:normAutofit/>
          </a:bodyPr>
          <a:lstStyle/>
          <a:p>
            <a:r>
              <a:rPr lang="ru-RU" sz="2400" b="1" dirty="0">
                <a:solidFill>
                  <a:srgbClr val="222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Листинг кода 1. Скрипт: </a:t>
            </a:r>
            <a:r>
              <a:rPr lang="en-US" sz="2400" b="1" dirty="0" err="1">
                <a:solidFill>
                  <a:srgbClr val="222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VRThumbstickMovement.cs</a:t>
            </a:r>
            <a:endParaRPr lang="ru-RU" sz="2400" b="1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7EFA38-C27A-422D-9B06-5747A2CB324B}"/>
              </a:ext>
            </a:extLst>
          </p:cNvPr>
          <p:cNvSpPr txBox="1"/>
          <p:nvPr/>
        </p:nvSpPr>
        <p:spPr>
          <a:xfrm>
            <a:off x="11684000" y="6477000"/>
            <a:ext cx="3175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800">
                <a:solidFill>
                  <a:srgbClr val="999999"/>
                </a:solidFill>
                <a:latin typeface="Century Gothic" panose="020B0502020202020204" pitchFamily="34" charset="0"/>
              </a:rPr>
              <a:t>7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F675E27-276C-4232-8BAF-ABF0C36D8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27" y="2361766"/>
            <a:ext cx="5410200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27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9000" y="233219"/>
            <a:ext cx="10414000" cy="787400"/>
          </a:xfrm>
        </p:spPr>
        <p:txBody>
          <a:bodyPr>
            <a:normAutofit/>
          </a:bodyPr>
          <a:lstStyle/>
          <a:p>
            <a:r>
              <a:rPr lang="ru-RU" sz="2400" b="1" dirty="0">
                <a:solidFill>
                  <a:srgbClr val="222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Листинг кода 2. Скрипт: </a:t>
            </a:r>
            <a:r>
              <a:rPr lang="en-US" sz="2400" b="1" dirty="0" err="1">
                <a:solidFill>
                  <a:srgbClr val="222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VRThumbstickMovement.cs</a:t>
            </a:r>
            <a:endParaRPr lang="ru-RU" sz="2400" b="1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7EFA38-C27A-422D-9B06-5747A2CB324B}"/>
              </a:ext>
            </a:extLst>
          </p:cNvPr>
          <p:cNvSpPr txBox="1"/>
          <p:nvPr/>
        </p:nvSpPr>
        <p:spPr>
          <a:xfrm>
            <a:off x="11684000" y="6477000"/>
            <a:ext cx="3175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800">
                <a:solidFill>
                  <a:srgbClr val="999999"/>
                </a:solidFill>
                <a:latin typeface="Century Gothic" panose="020B0502020202020204" pitchFamily="34" charset="0"/>
              </a:rPr>
              <a:t>7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F621B11-0A4D-4D3F-B704-A10AD96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892" y="927598"/>
            <a:ext cx="6504762" cy="57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2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9799" y="279400"/>
            <a:ext cx="10414000" cy="787400"/>
          </a:xfrm>
        </p:spPr>
        <p:txBody>
          <a:bodyPr>
            <a:normAutofit/>
          </a:bodyPr>
          <a:lstStyle/>
          <a:p>
            <a:r>
              <a:rPr lang="ru-RU" sz="2400" b="1">
                <a:solidFill>
                  <a:srgbClr val="222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Таймер, кликер и реакция аудитории</a:t>
            </a:r>
            <a:endParaRPr lang="ru-RU" sz="2400" b="1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1F9538A-4B7B-437C-8A6B-137710615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701262"/>
              </p:ext>
            </p:extLst>
          </p:nvPr>
        </p:nvGraphicFramePr>
        <p:xfrm>
          <a:off x="1117600" y="1371600"/>
          <a:ext cx="10223499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7833">
                  <a:extLst>
                    <a:ext uri="{9D8B030D-6E8A-4147-A177-3AD203B41FA5}">
                      <a16:colId xmlns:a16="http://schemas.microsoft.com/office/drawing/2014/main" val="1928324159"/>
                    </a:ext>
                  </a:extLst>
                </a:gridCol>
                <a:gridCol w="3407833">
                  <a:extLst>
                    <a:ext uri="{9D8B030D-6E8A-4147-A177-3AD203B41FA5}">
                      <a16:colId xmlns:a16="http://schemas.microsoft.com/office/drawing/2014/main" val="1351333461"/>
                    </a:ext>
                  </a:extLst>
                </a:gridCol>
                <a:gridCol w="3407833">
                  <a:extLst>
                    <a:ext uri="{9D8B030D-6E8A-4147-A177-3AD203B41FA5}">
                      <a16:colId xmlns:a16="http://schemas.microsoft.com/office/drawing/2014/main" val="174082627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Условие</a:t>
                      </a:r>
                    </a:p>
                  </a:txBody>
                  <a:tcPr marL="50800" marR="50800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Действие приложения</a:t>
                      </a:r>
                    </a:p>
                  </a:txBody>
                  <a:tcPr marL="50800" marR="50800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Результат для пользователя</a:t>
                      </a:r>
                    </a:p>
                  </a:txBody>
                  <a:tcPr marL="50800" marR="50800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0906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Последний слайд достигнут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таймер ставится на паузу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выступление считается завершенным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7195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Последний слайд и время осталось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запускаются аплодисменты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положительная реакция зала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74493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Время закончилось не на последнем слайде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запускается свист и замедление аудитории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сигнал о нарушении регламента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8417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Кликер лежит на стойке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коллизии удерживают объект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можно взять и переключать слайды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1166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E92A4FC-89C8-4770-B790-3849E66CC4EE}"/>
              </a:ext>
            </a:extLst>
          </p:cNvPr>
          <p:cNvSpPr txBox="1"/>
          <p:nvPr/>
        </p:nvSpPr>
        <p:spPr>
          <a:xfrm>
            <a:off x="1244600" y="4318000"/>
            <a:ext cx="97790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400">
                <a:solidFill>
                  <a:srgbClr val="222222"/>
                </a:solidFill>
                <a:latin typeface="Century Gothic" panose="020B0502020202020204" pitchFamily="34" charset="0"/>
              </a:rPr>
              <a:t>Звуки </a:t>
            </a:r>
            <a:r>
              <a:rPr lang="en-US" sz="1400">
                <a:solidFill>
                  <a:srgbClr val="222222"/>
                </a:solidFill>
                <a:latin typeface="Century Gothic" panose="020B0502020202020204" pitchFamily="34" charset="0"/>
              </a:rPr>
              <a:t>audience_applause.wav </a:t>
            </a:r>
            <a:r>
              <a:rPr lang="ru-RU" sz="1400">
                <a:solidFill>
                  <a:srgbClr val="222222"/>
                </a:solidFill>
                <a:latin typeface="Century Gothic" panose="020B0502020202020204" pitchFamily="34" charset="0"/>
              </a:rPr>
              <a:t>и </a:t>
            </a:r>
            <a:r>
              <a:rPr lang="en-US" sz="1400">
                <a:solidFill>
                  <a:srgbClr val="222222"/>
                </a:solidFill>
                <a:latin typeface="Century Gothic" panose="020B0502020202020204" pitchFamily="34" charset="0"/>
              </a:rPr>
              <a:t>audience_whistle.wav </a:t>
            </a:r>
            <a:r>
              <a:rPr lang="ru-RU" sz="1400">
                <a:solidFill>
                  <a:srgbClr val="222222"/>
                </a:solidFill>
                <a:latin typeface="Century Gothic" panose="020B0502020202020204" pitchFamily="34" charset="0"/>
              </a:rPr>
              <a:t>загружаются из </a:t>
            </a:r>
            <a:r>
              <a:rPr lang="en-US" sz="1400">
                <a:solidFill>
                  <a:srgbClr val="222222"/>
                </a:solidFill>
                <a:latin typeface="Century Gothic" panose="020B0502020202020204" pitchFamily="34" charset="0"/>
              </a:rPr>
              <a:t>Resources/Audio </a:t>
            </a:r>
            <a:r>
              <a:rPr lang="ru-RU" sz="1400">
                <a:solidFill>
                  <a:srgbClr val="222222"/>
                </a:solidFill>
                <a:latin typeface="Century Gothic" panose="020B0502020202020204" pitchFamily="34" charset="0"/>
              </a:rPr>
              <a:t>и воспроизводятся через </a:t>
            </a:r>
            <a:r>
              <a:rPr lang="en-US" sz="1400">
                <a:solidFill>
                  <a:srgbClr val="222222"/>
                </a:solidFill>
                <a:latin typeface="Century Gothic" panose="020B0502020202020204" pitchFamily="34" charset="0"/>
              </a:rPr>
              <a:t>AudioSource </a:t>
            </a:r>
            <a:r>
              <a:rPr lang="ru-RU" sz="1400">
                <a:solidFill>
                  <a:srgbClr val="222222"/>
                </a:solidFill>
                <a:latin typeface="Century Gothic" panose="020B0502020202020204" pitchFamily="34" charset="0"/>
              </a:rPr>
              <a:t>на камере.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9B7348-6EEE-4E1D-8F89-1506EC2137BF}"/>
              </a:ext>
            </a:extLst>
          </p:cNvPr>
          <p:cNvSpPr txBox="1"/>
          <p:nvPr/>
        </p:nvSpPr>
        <p:spPr>
          <a:xfrm>
            <a:off x="11684000" y="6477000"/>
            <a:ext cx="3175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800">
                <a:solidFill>
                  <a:srgbClr val="999999"/>
                </a:solidFill>
                <a:latin typeface="Century Gothic" panose="020B0502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12476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00825" y="154210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ru-RU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Практическая часть</a:t>
            </a:r>
            <a:br>
              <a:rPr lang="ru-RU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Руководство программиста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775EA7-443B-416E-A709-75802DBB199B}"/>
              </a:ext>
            </a:extLst>
          </p:cNvPr>
          <p:cNvSpPr txBox="1"/>
          <p:nvPr/>
        </p:nvSpPr>
        <p:spPr>
          <a:xfrm>
            <a:off x="1311564" y="2371275"/>
            <a:ext cx="9467272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Программист запускает проект через </a:t>
            </a:r>
            <a:r>
              <a:rPr lang="ru-RU" sz="18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Unity</a:t>
            </a:r>
            <a:r>
              <a:rPr lang="ru-RU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Hub</a:t>
            </a:r>
            <a:r>
              <a:rPr lang="ru-RU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открывает сцену </a:t>
            </a:r>
            <a:r>
              <a:rPr lang="ru-RU" sz="18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MainMenu</a:t>
            </a:r>
            <a:r>
              <a:rPr lang="ru-RU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использует </a:t>
            </a:r>
            <a:r>
              <a:rPr lang="ru-RU" sz="18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Play</a:t>
            </a:r>
            <a:r>
              <a:rPr lang="ru-RU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</a:t>
            </a:r>
            <a:r>
              <a:rPr lang="ru-RU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либо выполняет сборку. Передача управления происходит через методы </a:t>
            </a:r>
            <a:r>
              <a:rPr lang="ru-RU" sz="18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StartSession</a:t>
            </a:r>
            <a:r>
              <a:rPr lang="ru-RU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18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ToggleTimer</a:t>
            </a:r>
            <a:r>
              <a:rPr lang="ru-RU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18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NextSlide</a:t>
            </a:r>
            <a:r>
              <a:rPr lang="ru-RU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18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FinishSession</a:t>
            </a:r>
            <a:r>
              <a:rPr lang="ru-RU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события </a:t>
            </a:r>
            <a:r>
              <a:rPr lang="ru-RU" sz="18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TimerFinished</a:t>
            </a:r>
            <a:r>
              <a:rPr lang="ru-RU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ru-RU" sz="180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SlideChanged</a:t>
            </a:r>
            <a:r>
              <a:rPr lang="ru-RU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252525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60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92925" y="232224"/>
            <a:ext cx="8911687" cy="1280890"/>
          </a:xfrm>
        </p:spPr>
        <p:txBody>
          <a:bodyPr>
            <a:normAutofit/>
          </a:bodyPr>
          <a:lstStyle/>
          <a:p>
            <a:r>
              <a:rPr lang="ru-RU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Руководство пользователя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использования программы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нужен компьютер с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Unity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или готовая сборка, корректные слайды, аудиофайлы, а для VR-режима – гарнитура HTC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Vive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Focus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3, контроллеры и настроенный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OpenXR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2655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9799" y="279400"/>
            <a:ext cx="10414000" cy="787400"/>
          </a:xfrm>
        </p:spPr>
        <p:txBody>
          <a:bodyPr>
            <a:normAutofit/>
          </a:bodyPr>
          <a:lstStyle/>
          <a:p>
            <a:r>
              <a:rPr lang="ru-RU" sz="2400" b="1">
                <a:solidFill>
                  <a:srgbClr val="222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Экономическое обоснование</a:t>
            </a:r>
            <a:endParaRPr lang="ru-RU" sz="2400" b="1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6F836E-D12E-461F-A31F-0A9252AD5A10}"/>
              </a:ext>
            </a:extLst>
          </p:cNvPr>
          <p:cNvSpPr txBox="1"/>
          <p:nvPr/>
        </p:nvSpPr>
        <p:spPr>
          <a:xfrm>
            <a:off x="1117600" y="1206500"/>
            <a:ext cx="100330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400">
                <a:solidFill>
                  <a:srgbClr val="222222"/>
                </a:solidFill>
                <a:latin typeface="Century Gothic" panose="020B0502020202020204" pitchFamily="34" charset="0"/>
              </a:rPr>
              <a:t>Проект выполнялся как учебная разработка, поэтому ключевой экономический эффект связан с повторным использованием имеющегося оборудования и бесплатных/доступных инструментов разработки.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36363B20-45E8-456A-A64E-DBB9E369A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638612"/>
              </p:ext>
            </p:extLst>
          </p:nvPr>
        </p:nvGraphicFramePr>
        <p:xfrm>
          <a:off x="1778000" y="2222500"/>
          <a:ext cx="863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0">
                  <a:extLst>
                    <a:ext uri="{9D8B030D-6E8A-4147-A177-3AD203B41FA5}">
                      <a16:colId xmlns:a16="http://schemas.microsoft.com/office/drawing/2014/main" val="3364016965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19843237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ru-RU" sz="11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Статья</a:t>
                      </a:r>
                    </a:p>
                  </a:txBody>
                  <a:tcPr marL="50800" marR="50800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Подход в проекте</a:t>
                      </a:r>
                    </a:p>
                  </a:txBody>
                  <a:tcPr marL="50800" marR="50800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65459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ru-RU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Среда разработки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Unity 2022.3 LTS и C#</a:t>
                      </a:r>
                      <a:endParaRPr lang="ru-RU" sz="1100" b="0">
                        <a:solidFill>
                          <a:srgbClr val="22222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92894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VR-</a:t>
                      </a:r>
                      <a:r>
                        <a:rPr lang="ru-RU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оборудование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HTC Vive Focus 3 для проверки целевого сценария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585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3D-</a:t>
                      </a:r>
                      <a:r>
                        <a:rPr lang="ru-RU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сцена и контент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готовые модели аудитории и лекционного зала с доработкой логики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6381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ru-RU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Снижение затрат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репетиции можно проводить без аренды аудитории и привлечения слушателей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00258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98D108B-537D-4BD3-9E6E-EE1EBFBA2097}"/>
              </a:ext>
            </a:extLst>
          </p:cNvPr>
          <p:cNvSpPr txBox="1"/>
          <p:nvPr/>
        </p:nvSpPr>
        <p:spPr>
          <a:xfrm>
            <a:off x="11684000" y="6477000"/>
            <a:ext cx="3175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800">
                <a:solidFill>
                  <a:srgbClr val="999999"/>
                </a:solidFill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76729A-C9BE-4C61-83C6-F57CDF66D429}"/>
              </a:ext>
            </a:extLst>
          </p:cNvPr>
          <p:cNvSpPr txBox="1"/>
          <p:nvPr/>
        </p:nvSpPr>
        <p:spPr>
          <a:xfrm>
            <a:off x="3048000" y="517708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полная себестоимость готового программного продукта составила 54688,9 рублей.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1093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9799" y="279400"/>
            <a:ext cx="10414000" cy="787400"/>
          </a:xfrm>
        </p:spPr>
        <p:txBody>
          <a:bodyPr>
            <a:normAutofit/>
          </a:bodyPr>
          <a:lstStyle/>
          <a:p>
            <a:r>
              <a:rPr lang="ru-RU" sz="2400" b="1">
                <a:solidFill>
                  <a:srgbClr val="222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Техника безопасности и охрана труда</a:t>
            </a:r>
            <a:endParaRPr lang="ru-RU" sz="2400" b="1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726E87-5EE3-4D06-8B07-433DB61CAF80}"/>
              </a:ext>
            </a:extLst>
          </p:cNvPr>
          <p:cNvSpPr txBox="1"/>
          <p:nvPr/>
        </p:nvSpPr>
        <p:spPr>
          <a:xfrm>
            <a:off x="1117600" y="1270000"/>
            <a:ext cx="8255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500" b="1">
                <a:solidFill>
                  <a:srgbClr val="222222"/>
                </a:solidFill>
                <a:latin typeface="Century Gothic" panose="020B0502020202020204" pitchFamily="34" charset="0"/>
              </a:rPr>
              <a:t>Основные меры при использовании VR-приложения: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3D3A84-066B-45F9-B0A0-88E9CB4A89BB}"/>
              </a:ext>
            </a:extLst>
          </p:cNvPr>
          <p:cNvSpPr txBox="1"/>
          <p:nvPr/>
        </p:nvSpPr>
        <p:spPr>
          <a:xfrm>
            <a:off x="1498600" y="1841500"/>
            <a:ext cx="9398000" cy="143629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500">
                <a:solidFill>
                  <a:srgbClr val="222222"/>
                </a:solidFill>
                <a:latin typeface="Century Gothic" panose="020B0502020202020204" pitchFamily="34" charset="0"/>
              </a:rPr>
              <a:t>- подготовить свободную зону без препятствий;</a:t>
            </a:r>
          </a:p>
          <a:p>
            <a:r>
              <a:rPr lang="ru-RU" sz="1500">
                <a:solidFill>
                  <a:srgbClr val="222222"/>
                </a:solidFill>
                <a:latin typeface="Century Gothic" panose="020B0502020202020204" pitchFamily="34" charset="0"/>
              </a:rPr>
              <a:t>- проверить заряд гарнитуры и контроллеров;</a:t>
            </a:r>
          </a:p>
          <a:p>
            <a:r>
              <a:rPr lang="ru-RU" sz="1500">
                <a:solidFill>
                  <a:srgbClr val="222222"/>
                </a:solidFill>
                <a:latin typeface="Century Gothic" panose="020B0502020202020204" pitchFamily="34" charset="0"/>
              </a:rPr>
              <a:t>- ограничивать тренировочные сессии и делать перерывы;</a:t>
            </a:r>
          </a:p>
          <a:p>
            <a:r>
              <a:rPr lang="ru-RU" sz="1500">
                <a:solidFill>
                  <a:srgbClr val="222222"/>
                </a:solidFill>
                <a:latin typeface="Century Gothic" panose="020B0502020202020204" pitchFamily="34" charset="0"/>
              </a:rPr>
              <a:t>- не использовать приложение при головокружении или плохом самочувствии;</a:t>
            </a:r>
          </a:p>
          <a:p>
            <a:r>
              <a:rPr lang="ru-RU" sz="1500">
                <a:solidFill>
                  <a:srgbClr val="222222"/>
                </a:solidFill>
                <a:latin typeface="Century Gothic" panose="020B0502020202020204" pitchFamily="34" charset="0"/>
              </a:rPr>
              <a:t>- передавать гарнитуру только после настройки ремня и межзрачкового расстояния;</a:t>
            </a:r>
          </a:p>
          <a:p>
            <a:r>
              <a:rPr lang="ru-RU" sz="1500">
                <a:solidFill>
                  <a:srgbClr val="222222"/>
                </a:solidFill>
                <a:latin typeface="Century Gothic" panose="020B0502020202020204" pitchFamily="34" charset="0"/>
              </a:rPr>
              <a:t>- очищать лицевую накладку при смене пользователя.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A453536-7B3F-4DF0-ADD6-41F829C66EE3}"/>
              </a:ext>
            </a:extLst>
          </p:cNvPr>
          <p:cNvSpPr/>
          <p:nvPr/>
        </p:nvSpPr>
        <p:spPr>
          <a:xfrm>
            <a:off x="2095500" y="4889500"/>
            <a:ext cx="8001000" cy="787400"/>
          </a:xfrm>
          <a:prstGeom prst="roundRect">
            <a:avLst/>
          </a:prstGeom>
          <a:solidFill>
            <a:srgbClr val="F7F7F7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/>
            <a:r>
              <a:rPr lang="ru-RU" sz="1300" b="1">
                <a:solidFill>
                  <a:srgbClr val="222222"/>
                </a:solidFill>
                <a:latin typeface="Century Gothic" panose="020B0502020202020204" pitchFamily="34" charset="0"/>
              </a:rPr>
              <a:t>Для демонстрации без гарнитуры предусмотрен PC-режим: он снижает риск срыва защиты, если VR-оборудование недоступно.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3FF5D0-2C8E-4649-B368-18512673F23C}"/>
              </a:ext>
            </a:extLst>
          </p:cNvPr>
          <p:cNvSpPr txBox="1"/>
          <p:nvPr/>
        </p:nvSpPr>
        <p:spPr>
          <a:xfrm>
            <a:off x="11684000" y="6477000"/>
            <a:ext cx="3175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800">
                <a:solidFill>
                  <a:srgbClr val="999999"/>
                </a:solidFill>
                <a:latin typeface="Century Gothic" panose="020B0502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525142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9799" y="279400"/>
            <a:ext cx="10414000" cy="787400"/>
          </a:xfrm>
        </p:spPr>
        <p:txBody>
          <a:bodyPr>
            <a:normAutofit/>
          </a:bodyPr>
          <a:lstStyle/>
          <a:p>
            <a:r>
              <a:rPr lang="ru-RU" sz="2400" b="1">
                <a:solidFill>
                  <a:srgbClr val="2222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Заключение</a:t>
            </a:r>
            <a:endParaRPr lang="ru-RU" sz="2400" b="1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2223E6-74A1-42CF-BE6E-BEB81799B19F}"/>
              </a:ext>
            </a:extLst>
          </p:cNvPr>
          <p:cNvSpPr txBox="1"/>
          <p:nvPr/>
        </p:nvSpPr>
        <p:spPr>
          <a:xfrm>
            <a:off x="1117600" y="1333500"/>
            <a:ext cx="10033000" cy="74379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500">
                <a:solidFill>
                  <a:srgbClr val="222222"/>
                </a:solidFill>
                <a:latin typeface="Century Gothic" panose="020B0502020202020204" pitchFamily="34" charset="0"/>
              </a:rPr>
              <a:t>В результате разработан VR-тренажер публичного выступления, в котором пользователь выбирает время тренировки, запускает сцену, переключает слайды кликером и получает реакцию виртуальной аудитории.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936408-F175-4684-A5AA-782EBF53A684}"/>
              </a:ext>
            </a:extLst>
          </p:cNvPr>
          <p:cNvSpPr txBox="1"/>
          <p:nvPr/>
        </p:nvSpPr>
        <p:spPr>
          <a:xfrm>
            <a:off x="1117600" y="2476500"/>
            <a:ext cx="4191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500" b="1">
                <a:solidFill>
                  <a:srgbClr val="222222"/>
                </a:solidFill>
                <a:latin typeface="Century Gothic" panose="020B0502020202020204" pitchFamily="34" charset="0"/>
              </a:rPr>
              <a:t>Достигнутые результаты: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2C2ADA-40F9-49CC-85DD-B56B2F6B2FD9}"/>
              </a:ext>
            </a:extLst>
          </p:cNvPr>
          <p:cNvSpPr txBox="1"/>
          <p:nvPr/>
        </p:nvSpPr>
        <p:spPr>
          <a:xfrm>
            <a:off x="1498600" y="2984500"/>
            <a:ext cx="8763000" cy="120545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500" dirty="0">
                <a:solidFill>
                  <a:srgbClr val="222222"/>
                </a:solidFill>
                <a:latin typeface="Century Gothic" panose="020B0502020202020204" pitchFamily="34" charset="0"/>
              </a:rPr>
              <a:t>- реализованы меню и тренировочная сцена;</a:t>
            </a:r>
          </a:p>
          <a:p>
            <a:r>
              <a:rPr lang="ru-RU" sz="1500" dirty="0">
                <a:solidFill>
                  <a:srgbClr val="222222"/>
                </a:solidFill>
                <a:latin typeface="Century Gothic" panose="020B0502020202020204" pitchFamily="34" charset="0"/>
              </a:rPr>
              <a:t>- добавлены таймер и остановка на последнем слайде;</a:t>
            </a:r>
          </a:p>
          <a:p>
            <a:r>
              <a:rPr lang="ru-RU" sz="1500" dirty="0">
                <a:solidFill>
                  <a:srgbClr val="222222"/>
                </a:solidFill>
                <a:latin typeface="Century Gothic" panose="020B0502020202020204" pitchFamily="34" charset="0"/>
              </a:rPr>
              <a:t>- исправлена работа </a:t>
            </a:r>
            <a:r>
              <a:rPr lang="ru-RU" sz="1500" dirty="0" err="1">
                <a:solidFill>
                  <a:srgbClr val="222222"/>
                </a:solidFill>
                <a:latin typeface="Century Gothic" panose="020B0502020202020204" pitchFamily="34" charset="0"/>
              </a:rPr>
              <a:t>кликера</a:t>
            </a:r>
            <a:r>
              <a:rPr lang="ru-RU" sz="1500" dirty="0">
                <a:solidFill>
                  <a:srgbClr val="222222"/>
                </a:solidFill>
                <a:latin typeface="Century Gothic" panose="020B0502020202020204" pitchFamily="34" charset="0"/>
              </a:rPr>
              <a:t> и VR-взаимодействия;</a:t>
            </a:r>
          </a:p>
          <a:p>
            <a:r>
              <a:rPr lang="ru-RU" sz="1500" dirty="0">
                <a:solidFill>
                  <a:srgbClr val="222222"/>
                </a:solidFill>
                <a:latin typeface="Century Gothic" panose="020B0502020202020204" pitchFamily="34" charset="0"/>
              </a:rPr>
              <a:t>- добавлены звуковые реакции аудитории;</a:t>
            </a:r>
          </a:p>
          <a:p>
            <a:r>
              <a:rPr lang="ru-RU" sz="1500" dirty="0">
                <a:solidFill>
                  <a:srgbClr val="222222"/>
                </a:solidFill>
                <a:latin typeface="Century Gothic" panose="020B0502020202020204" pitchFamily="34" charset="0"/>
              </a:rPr>
              <a:t>- подготовлена документация и материалы для защиты.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1621412-6FBD-467F-ACF7-0970678F6ADE}"/>
              </a:ext>
            </a:extLst>
          </p:cNvPr>
          <p:cNvSpPr/>
          <p:nvPr/>
        </p:nvSpPr>
        <p:spPr>
          <a:xfrm>
            <a:off x="2159000" y="5334000"/>
            <a:ext cx="7874000" cy="685800"/>
          </a:xfrm>
          <a:prstGeom prst="roundRect">
            <a:avLst/>
          </a:prstGeom>
          <a:solidFill>
            <a:srgbClr val="F7F7F7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76200" rtlCol="0" anchor="ctr"/>
          <a:lstStyle/>
          <a:p>
            <a:pPr algn="ctr"/>
            <a:r>
              <a:rPr lang="ru-RU" sz="1300" b="1">
                <a:solidFill>
                  <a:srgbClr val="222222"/>
                </a:solidFill>
                <a:latin typeface="Century Gothic" panose="020B0502020202020204" pitchFamily="34" charset="0"/>
              </a:rPr>
              <a:t>Направления развития: распознавание речи, оценка темпа, расширенная аналитика и новые сценарии реакции аудитории.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313AE1-C315-4E3A-A6B1-CE39B5BED28E}"/>
              </a:ext>
            </a:extLst>
          </p:cNvPr>
          <p:cNvSpPr txBox="1"/>
          <p:nvPr/>
        </p:nvSpPr>
        <p:spPr>
          <a:xfrm>
            <a:off x="11684000" y="6477000"/>
            <a:ext cx="3175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800">
                <a:solidFill>
                  <a:srgbClr val="999999"/>
                </a:solidFill>
                <a:latin typeface="Century Gothic" panose="020B0502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27855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04203" y="2943726"/>
            <a:ext cx="8915399" cy="2262781"/>
          </a:xfrm>
        </p:spPr>
        <p:txBody>
          <a:bodyPr>
            <a:noAutofit/>
          </a:bodyPr>
          <a:lstStyle/>
          <a:p>
            <a:pPr algn="ctr"/>
            <a:br>
              <a:rPr lang="ru-RU" sz="4800" dirty="0"/>
            </a:br>
            <a:br>
              <a:rPr lang="ru-RU" sz="4800" dirty="0"/>
            </a:br>
            <a:r>
              <a:rPr lang="ru-RU" sz="4800" dirty="0"/>
              <a:t>Выпускная квалификационная работа </a:t>
            </a:r>
            <a:r>
              <a:rPr lang="ru-RU" sz="2400" dirty="0"/>
              <a:t>на тему: Разработка обучающего </a:t>
            </a:r>
            <a:r>
              <a:rPr lang="en-US" sz="2400" dirty="0"/>
              <a:t>VR-</a:t>
            </a:r>
            <a:r>
              <a:rPr lang="ru-RU" sz="2400" dirty="0"/>
              <a:t>приложения</a:t>
            </a:r>
            <a:br>
              <a:rPr lang="ru-RU" sz="2400" dirty="0"/>
            </a:br>
            <a:br>
              <a:rPr lang="ru-RU" sz="2400" dirty="0"/>
            </a:br>
            <a:br>
              <a:rPr lang="ru-RU" sz="2400" dirty="0"/>
            </a:br>
            <a:r>
              <a:rPr lang="ru-RU" sz="2400" dirty="0"/>
              <a:t>специальность 09.02.07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204203" y="494136"/>
            <a:ext cx="8915399" cy="1126283"/>
          </a:xfrm>
        </p:spPr>
        <p:txBody>
          <a:bodyPr>
            <a:noAutofit/>
          </a:bodyPr>
          <a:lstStyle/>
          <a:p>
            <a:pPr algn="ctr"/>
            <a:r>
              <a:rPr lang="ru-RU" sz="1400" dirty="0"/>
              <a:t>Министерство образования и науки Челябинской области</a:t>
            </a:r>
          </a:p>
          <a:p>
            <a:pPr algn="ctr"/>
            <a:r>
              <a:rPr lang="ru-RU" sz="1400" dirty="0"/>
              <a:t>Государственное бюджетное профессиональное образовательное учреждение</a:t>
            </a:r>
          </a:p>
          <a:p>
            <a:pPr algn="ctr"/>
            <a:r>
              <a:rPr lang="ru-RU" sz="1400" dirty="0"/>
              <a:t>«Южно-Уральский государственный колледж»</a:t>
            </a:r>
          </a:p>
          <a:p>
            <a:pPr algn="ctr"/>
            <a:r>
              <a:rPr lang="ru-RU" sz="1400" dirty="0"/>
              <a:t>ПЦК Информационных технологий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02812" y="5791200"/>
            <a:ext cx="38891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Выполнил: Федин А.А.</a:t>
            </a:r>
          </a:p>
          <a:p>
            <a:r>
              <a:rPr lang="ru-RU" dirty="0"/>
              <a:t>Группа 319</a:t>
            </a:r>
          </a:p>
          <a:p>
            <a:r>
              <a:rPr lang="ru-RU" dirty="0"/>
              <a:t>Руководитель: Исаев А.Н.</a:t>
            </a:r>
          </a:p>
        </p:txBody>
      </p:sp>
    </p:spTree>
    <p:extLst>
      <p:ext uri="{BB962C8B-B14F-4D97-AF65-F5344CB8AC3E}">
        <p14:creationId xmlns:p14="http://schemas.microsoft.com/office/powerpoint/2010/main" val="2890310713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280</TotalTime>
  <Words>1029</Words>
  <Application>Microsoft Office PowerPoint</Application>
  <PresentationFormat>Широкоэкранный</PresentationFormat>
  <Paragraphs>190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Century Gothic</vt:lpstr>
      <vt:lpstr>Times New Roman</vt:lpstr>
      <vt:lpstr>Wingdings 3</vt:lpstr>
      <vt:lpstr>Легкий дым</vt:lpstr>
      <vt:lpstr>  Выпускная квалификационная работа на тему: Разработка обучающего VR-приложения   специальность 09.02.07</vt:lpstr>
      <vt:lpstr>Введение</vt:lpstr>
      <vt:lpstr>Анализ аналогов и свободная ниша</vt:lpstr>
      <vt:lpstr>Обоснование выбора технологий</vt:lpstr>
      <vt:lpstr>Проектирование приложения</vt:lpstr>
      <vt:lpstr>Реализация: основные модули</vt:lpstr>
      <vt:lpstr>VR-взаимодействие и управление</vt:lpstr>
      <vt:lpstr>Листинг кода 1. Скрипт: VRThumbstickMovement.cs</vt:lpstr>
      <vt:lpstr>Листинг кода 2. Скрипт: VRThumbstickMovement.cs</vt:lpstr>
      <vt:lpstr>Таймер, кликер и реакция аудитории</vt:lpstr>
      <vt:lpstr>Практическая часть Руководство программиста</vt:lpstr>
      <vt:lpstr>Руководство пользователя</vt:lpstr>
      <vt:lpstr>Экономическое обоснование</vt:lpstr>
      <vt:lpstr>Техника безопасности и охрана труда</vt:lpstr>
      <vt:lpstr>Заключение</vt:lpstr>
      <vt:lpstr>  Выпускная квалификационная работа на тему: Разработка обучающего VR-приложения   специальность 09.02.07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Выпускная квалифика</dc:title>
  <dc:creator>Ращектаева Татьяна</dc:creator>
  <cp:lastModifiedBy>Артемий Федин</cp:lastModifiedBy>
  <cp:revision>22</cp:revision>
  <dcterms:created xsi:type="dcterms:W3CDTF">2017-06-05T18:15:14Z</dcterms:created>
  <dcterms:modified xsi:type="dcterms:W3CDTF">2026-06-10T05:01:18Z</dcterms:modified>
</cp:coreProperties>
</file>