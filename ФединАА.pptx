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69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71" r:id="rId10"/>
    <p:sldId id="272" r:id="rId11"/>
    <p:sldId id="263" r:id="rId12"/>
    <p:sldId id="264" r:id="rId13"/>
    <p:sldId id="265" r:id="rId14"/>
    <p:sldId id="266" r:id="rId15"/>
    <p:sldId id="267" r:id="rId16"/>
    <p:sldId id="268" r:id="rId17"/>
    <p:sldId id="256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6506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4188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39464-8A25-41CD-9237-446328AED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35961-626B-47A2-83A0-274514324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2E91E7-7934-4287-AE62-CEC24646DA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18.06.2026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71FB89-FFB1-4F77-BC72-52605ADDAA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19415F-1996-401C-AEE4-C3FF892288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092FB-917A-41B0-BB7B-0B46DF44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065944-B852-443C-9AED-501AFFD56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A05733-F472-48F5-8CD7-F37DB62A81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18.06.2026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7D9FC4-584F-4029-89FB-0EA9F5B20A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6DD411-5BF1-463C-9862-3167241400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CB8DDE-B1B2-43B3-87EB-8A5DDF22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7D1AEC-328E-4862-A9A8-ACB9071BD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B1FE3D-50F0-4E5F-80E5-7A519A1961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18.06.2026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91D980-A42F-4222-A745-CA16F2774A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A51408-2E19-442E-982F-B1F5CD6DF6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7C1F6E-FCCC-4E0F-A992-12EBBDB6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A5BA26-5A6F-451D-A38C-FD40D541A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A6CF3D-8C15-405F-BE90-70DDDE8DCCC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797BC0-82A5-4B19-AAB5-98D9600F25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18.06.2026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EDBC0A-781C-4957-870D-C2FAD75CBA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E65BA8-B630-4C63-8101-9D72F3DF0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BB0CB-6147-4546-AB4B-8B13BFBE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314E04-DE1D-45B0-BA0D-08C9BC1B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62CDAE-6738-4C10-85F3-A9913D6178A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681395-6CEA-4C22-96B6-2A9BDDA469F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6280A2D-D1C5-43D8-99A1-DCF964E0A16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CF7BDE-3985-42F6-A6FA-57CB47E320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18.06.2026</a:t>
            </a:fld>
            <a:endParaRPr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F3B0F51-13C6-47DA-BD03-49F8B056C1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6A4C85-0B83-4859-A77D-ECA115354A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E8543-D5EB-42E0-8EC7-5DB81AA50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54C1B04-51AF-4EAE-A7E3-93FE4CAF31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18.06.2026</a:t>
            </a:fld>
            <a:endParaRPr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BC5EC3-93F1-4A87-AAC4-C9518C03CB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74341F-5135-4393-A9F8-703A3C82DF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A25810B-B299-4A8D-B7B8-BC6AAA5903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18.06.2026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BBBDF9B-F9F9-4879-958B-1F001FB322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AC63AF-E231-4E0D-A4E9-8409AC4219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E1CD8-F413-4D42-93CE-3F76B162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5F3C9-E38E-49BD-80C5-968823A8C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9B89F5-2CA9-43D8-A6AA-40453912CFC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5B1BAD-8A35-4759-9FF4-848F2029F1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18.06.2026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31B787-F02C-4882-8A49-1D4F689562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519F93-C511-412A-BED5-E203AA75D2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AF74C-ACB7-4895-8A73-F67ADDA5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C97208-E5E1-49BF-95EF-7A6636C7C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EAFD68-F504-4575-898F-A2F7E222F11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D25E52-3EBC-4BFA-8855-81CEA08CEA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18.06.2026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58BA51-F3A1-4121-897D-5A7EB5B712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17A94C-B23A-406D-94DE-4457955859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5C7EF-5962-4BAC-9065-41C0C7C6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940DF8-AC19-42BE-916E-4A7283E4B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997841-8661-41EB-B2D3-443EB315BC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18.06.2026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4D04FB-F827-47AB-8EF4-12138DABC3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0A43B5-46BE-4ECF-8127-28D4CC0222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C25581-61BF-4711-A656-A83B74E2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9AAEC1-33C8-49A0-8A93-C66429B12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4E5A0A-19B9-44DC-8FD6-C81091D9F2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18.06.2026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366235-5AF5-4862-85DA-003718DC32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86ADB5-FBBF-4DAD-9A12-286BC0C1C5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9EC0D-2C47-4B1D-B95E-A32B338C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322B64-1954-4077-BE02-BD38C899B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60F64B-9C9C-44B6-BD1B-815794F8DED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D86EE-7151-4E45-86A4-A804D745E51D}" type="datetimeFigureOut">
              <a:t>18.06.2026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1A78FC-5F58-485A-B888-15D59BD07C9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77A4C0-9448-441D-8E46-DA00C5F31FB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76AE9-9F35-4395-8BD9-7FD90AEB96B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A8C7AF-2FCE-4C18-A9D2-C3DFE6123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435" y="322729"/>
            <a:ext cx="10986247" cy="6225989"/>
          </a:xfrm>
        </p:spPr>
        <p:txBody>
          <a:bodyPr>
            <a:norm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Челябинской области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образовательное учреждение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«Южно-Уральский государственный колледж»</a:t>
            </a:r>
          </a:p>
          <a:p>
            <a:pPr algn="ctr">
              <a:lnSpc>
                <a:spcPct val="150000"/>
              </a:lnSpc>
              <a:spcBef>
                <a:spcPts val="1055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«Информатики и вычислительной техники»</a:t>
            </a:r>
          </a:p>
          <a:p>
            <a:pPr algn="ctr">
              <a:lnSpc>
                <a:spcPct val="150000"/>
              </a:lnSpc>
              <a:spcBef>
                <a:spcPts val="3000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ДИПЛОМНЫЙ ПРОЕКТ</a:t>
            </a:r>
          </a:p>
          <a:p>
            <a:pPr algn="ctr">
              <a:lnSpc>
                <a:spcPct val="150000"/>
              </a:lnSpc>
              <a:spcBef>
                <a:spcPts val="360"/>
              </a:spcBef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обучающего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VR-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приложения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специальность СПО 09.02.07 «Информационные системы и программирование»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Дипломный проект выполнил: 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  <a:tabLst>
                <a:tab pos="8258175" algn="l"/>
              </a:tabLst>
            </a:pPr>
            <a:r>
              <a:rPr lang="ru-RU" sz="1800" dirty="0">
                <a:latin typeface="Times New Roman" panose="02020603050405020304" pitchFamily="18" charset="0"/>
              </a:rPr>
              <a:t>студент группы ИСп319ДК, Федин Артемий Антонович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очного отделения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Руководитель: преподаватель Исаев Андрей Николаевич</a:t>
            </a:r>
          </a:p>
          <a:p>
            <a:pPr>
              <a:lnSpc>
                <a:spcPct val="150000"/>
              </a:lnSpc>
              <a:spcBef>
                <a:spcPts val="480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Челябинск 2026</a:t>
            </a:r>
          </a:p>
        </p:txBody>
      </p:sp>
    </p:spTree>
    <p:extLst>
      <p:ext uri="{BB962C8B-B14F-4D97-AF65-F5344CB8AC3E}">
        <p14:creationId xmlns:p14="http://schemas.microsoft.com/office/powerpoint/2010/main" val="410129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E8265DE-7825-4199-B422-5C152821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8366"/>
          </a:xfrm>
        </p:spPr>
        <p:txBody>
          <a:bodyPr>
            <a:normAutofit fontScale="90000"/>
          </a:bodyPr>
          <a:lstStyle/>
          <a:p>
            <a:pPr algn="ctr">
              <a:buNone/>
              <a:defRPr sz="2550" b="1">
                <a:solidFill>
                  <a:srgbClr val="000000"/>
                </a:solidFill>
              </a:defRPr>
            </a:pPr>
            <a:r>
              <a:rPr sz="255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B9B5B7-9B76-4F46-93AB-B3DCA2467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1274"/>
            <a:ext cx="10515600" cy="5772726"/>
          </a:xfrm>
        </p:spPr>
        <p:txBody>
          <a:bodyPr>
            <a:noAutofit/>
          </a:bodyPr>
          <a:lstStyle/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4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Актуальность</a:t>
            </a:r>
            <a:r>
              <a:rPr lang="ru-RU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1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Times New Roman" panose="02020603050405020304" pitchFamily="18" charset="0"/>
              <a:buChar char="‑"/>
              <a:defRPr sz="1350">
                <a:solidFill>
                  <a:srgbClr val="000000"/>
                </a:solidFill>
              </a:defRPr>
            </a:pP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Репетиция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перед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монитором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не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воспроизводит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давление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аудитории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Times New Roman" panose="02020603050405020304" pitchFamily="18" charset="0"/>
              <a:buChar char="‑"/>
              <a:defRPr sz="1350">
                <a:solidFill>
                  <a:srgbClr val="000000"/>
                </a:solidFill>
              </a:defRPr>
            </a:pP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VR-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среда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позволяет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безопасно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повторять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выступление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Times New Roman" panose="02020603050405020304" pitchFamily="18" charset="0"/>
              <a:buChar char="‑"/>
              <a:defRPr sz="1350">
                <a:solidFill>
                  <a:srgbClr val="000000"/>
                </a:solidFill>
              </a:defRPr>
            </a:pP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Пользователь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тренирует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регламент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слайды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поведение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перед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залом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4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Цель</a:t>
            </a:r>
            <a:r>
              <a:rPr lang="ru-RU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1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Разработать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обучающее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VR-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приложение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для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тренировки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публичного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выступления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в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виртуальной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аудитории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4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Задачи</a:t>
            </a:r>
            <a:r>
              <a:rPr lang="ru-RU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1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проанализировать предметную область и существующие аналоги;</a:t>
            </a:r>
            <a:endParaRPr lang="ru-RU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рассмотреть основные теоретические аспекты разработки </a:t>
            </a:r>
            <a:r>
              <a:rPr lang="en-US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VR</a:t>
            </a:r>
            <a:r>
              <a:rPr lang="ru-RU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-приложения;</a:t>
            </a:r>
            <a:endParaRPr lang="ru-RU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выполнить обзор и обосновать выбор технологий и инструментов разработки;</a:t>
            </a:r>
            <a:endParaRPr lang="ru-RU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спроектировать структуру, пользовательские сценарии и интерфейс </a:t>
            </a:r>
            <a:r>
              <a:rPr lang="en-US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VR</a:t>
            </a:r>
            <a:r>
              <a:rPr lang="ru-RU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-тренажера;</a:t>
            </a:r>
            <a:endParaRPr lang="ru-RU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реализовать основные программные модули проекта;</a:t>
            </a:r>
            <a:endParaRPr lang="ru-RU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провести тестирование разработанного </a:t>
            </a:r>
            <a:r>
              <a:rPr lang="en-US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VR</a:t>
            </a:r>
            <a:r>
              <a:rPr lang="ru-RU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-приложения;</a:t>
            </a:r>
            <a:endParaRPr lang="ru-RU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руководство программиста;</a:t>
            </a:r>
            <a:endParaRPr lang="ru-RU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руководство пользователя;</a:t>
            </a:r>
            <a:endParaRPr lang="ru-RU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рассчитать экономическое обоснование проекта;</a:t>
            </a:r>
            <a:endParaRPr lang="ru-RU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рассмотреть требования техники безопасности и охраны труда.</a:t>
            </a:r>
            <a:endParaRPr lang="ru-RU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281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D81F6-8381-454F-98A7-9C9706D6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ТЕОРЕТИЧЕСКАЯ ЧАСТЬ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1.1 </a:t>
            </a:r>
            <a:r>
              <a:rPr sz="18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Анализ</a:t>
            </a:r>
            <a:r>
              <a:rPr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предметной</a:t>
            </a:r>
            <a:r>
              <a:rPr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области</a:t>
            </a:r>
            <a:r>
              <a:rPr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8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существующих</a:t>
            </a:r>
            <a:r>
              <a:rPr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аналогов</a:t>
            </a:r>
            <a:endParaRPr sz="1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</a:pPr>
            <a:endParaRPr sz="13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26" name="Picture 2" descr="VirtualSpeech - AI-Powered Soft Skills Training in VR and Online">
            <a:extLst>
              <a:ext uri="{FF2B5EF4-FFF2-40B4-BE49-F238E27FC236}">
                <a16:creationId xmlns:a16="http://schemas.microsoft.com/office/drawing/2014/main" id="{7E9597A4-56D4-46AF-88E4-39CD66F32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490" y="2474437"/>
            <a:ext cx="6040582" cy="3769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eak Confidently — From Virtual to Reality | Ovation (VR) - YouTube">
            <a:extLst>
              <a:ext uri="{FF2B5EF4-FFF2-40B4-BE49-F238E27FC236}">
                <a16:creationId xmlns:a16="http://schemas.microsoft.com/office/drawing/2014/main" id="{FB2B7DD2-95AC-45A7-8FCD-A78FA7038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28" y="2474436"/>
            <a:ext cx="5026660" cy="3769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571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 </a:t>
            </a:r>
            <a:r>
              <a:rPr sz="18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Основные</a:t>
            </a:r>
            <a:r>
              <a:rPr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теоретические</a:t>
            </a:r>
            <a:r>
              <a:rPr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аспекты</a:t>
            </a:r>
            <a:endParaRPr sz="1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Ключевые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аспекты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VR-</a:t>
            </a:r>
            <a:r>
              <a:rPr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тренажера</a:t>
            </a:r>
            <a:r>
              <a:rPr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  <a:p>
            <a:pPr marL="0" indent="0">
              <a:buNone/>
            </a:pP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Symbol" panose="05050102010706020507" pitchFamily="18" charset="2"/>
              <a:buChar char=""/>
              <a:defRPr sz="1350">
                <a:solidFill>
                  <a:srgbClr val="000000"/>
                </a:solidFill>
              </a:defRPr>
            </a:pPr>
            <a:r>
              <a:rPr sz="1400" dirty="0" err="1">
                <a:solidFill>
                  <a:srgbClr val="000000"/>
                </a:solidFill>
              </a:rPr>
              <a:t>Иммерсия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-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ощущение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присутствия</a:t>
            </a:r>
            <a:r>
              <a:rPr sz="1400" dirty="0">
                <a:solidFill>
                  <a:srgbClr val="000000"/>
                </a:solidFill>
              </a:rPr>
              <a:t> в </a:t>
            </a:r>
            <a:r>
              <a:rPr sz="1400" dirty="0" err="1">
                <a:solidFill>
                  <a:srgbClr val="000000"/>
                </a:solidFill>
              </a:rPr>
              <a:t>аудитории</a:t>
            </a:r>
            <a:endParaRPr sz="1400" dirty="0">
              <a:solidFill>
                <a:srgbClr val="000000"/>
              </a:solidFill>
            </a:endParaRPr>
          </a:p>
          <a:p>
            <a:pPr>
              <a:buFont typeface="Symbol" panose="05050102010706020507" pitchFamily="18" charset="2"/>
              <a:buChar char=""/>
              <a:defRPr sz="1350">
                <a:solidFill>
                  <a:srgbClr val="000000"/>
                </a:solidFill>
              </a:defRPr>
            </a:pPr>
            <a:r>
              <a:rPr sz="1400" dirty="0" err="1">
                <a:solidFill>
                  <a:srgbClr val="000000"/>
                </a:solidFill>
              </a:rPr>
              <a:t>Интерактивность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-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пользователь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работает</a:t>
            </a:r>
            <a:r>
              <a:rPr sz="1400" dirty="0">
                <a:solidFill>
                  <a:srgbClr val="000000"/>
                </a:solidFill>
              </a:rPr>
              <a:t> с </a:t>
            </a:r>
            <a:r>
              <a:rPr sz="1400" dirty="0" err="1">
                <a:solidFill>
                  <a:srgbClr val="000000"/>
                </a:solidFill>
              </a:rPr>
              <a:t>меню</a:t>
            </a:r>
            <a:r>
              <a:rPr sz="1400" dirty="0">
                <a:solidFill>
                  <a:srgbClr val="000000"/>
                </a:solidFill>
              </a:rPr>
              <a:t>, </a:t>
            </a:r>
            <a:r>
              <a:rPr sz="1400" dirty="0" err="1">
                <a:solidFill>
                  <a:srgbClr val="000000"/>
                </a:solidFill>
              </a:rPr>
              <a:t>кликером</a:t>
            </a:r>
            <a:r>
              <a:rPr sz="1400" dirty="0">
                <a:solidFill>
                  <a:srgbClr val="000000"/>
                </a:solidFill>
              </a:rPr>
              <a:t>, </a:t>
            </a:r>
            <a:r>
              <a:rPr sz="1400" dirty="0" err="1">
                <a:solidFill>
                  <a:srgbClr val="000000"/>
                </a:solidFill>
              </a:rPr>
              <a:t>слайдами</a:t>
            </a:r>
            <a:r>
              <a:rPr sz="1400" dirty="0">
                <a:solidFill>
                  <a:srgbClr val="000000"/>
                </a:solidFill>
              </a:rPr>
              <a:t> и </a:t>
            </a:r>
            <a:r>
              <a:rPr sz="1400" dirty="0" err="1">
                <a:solidFill>
                  <a:srgbClr val="000000"/>
                </a:solidFill>
              </a:rPr>
              <a:t>таймером</a:t>
            </a:r>
            <a:endParaRPr sz="1400" dirty="0">
              <a:solidFill>
                <a:srgbClr val="000000"/>
              </a:solidFill>
            </a:endParaRPr>
          </a:p>
          <a:p>
            <a:pPr>
              <a:buFont typeface="Symbol" panose="05050102010706020507" pitchFamily="18" charset="2"/>
              <a:buChar char=""/>
              <a:defRPr sz="1350">
                <a:solidFill>
                  <a:srgbClr val="000000"/>
                </a:solidFill>
              </a:defRPr>
            </a:pPr>
            <a:r>
              <a:rPr sz="1400" dirty="0" err="1">
                <a:solidFill>
                  <a:srgbClr val="000000"/>
                </a:solidFill>
              </a:rPr>
              <a:t>Обратная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связь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-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звуки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реакции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зала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зависят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от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результата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выступления</a:t>
            </a:r>
            <a:endParaRPr sz="1400" dirty="0">
              <a:solidFill>
                <a:srgbClr val="000000"/>
              </a:solidFill>
            </a:endParaRPr>
          </a:p>
          <a:p>
            <a:pPr>
              <a:buFont typeface="Symbol" panose="05050102010706020507" pitchFamily="18" charset="2"/>
              <a:buChar char=""/>
              <a:defRPr sz="1350">
                <a:solidFill>
                  <a:srgbClr val="000000"/>
                </a:solidFill>
              </a:defRPr>
            </a:pPr>
            <a:r>
              <a:rPr sz="1400" dirty="0" err="1">
                <a:solidFill>
                  <a:srgbClr val="000000"/>
                </a:solidFill>
              </a:rPr>
              <a:t>Ограничение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времени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-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тренировка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соблюдения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регламента</a:t>
            </a:r>
            <a:endParaRPr sz="1400" dirty="0">
              <a:solidFill>
                <a:srgbClr val="000000"/>
              </a:solidFill>
            </a:endParaRPr>
          </a:p>
          <a:p>
            <a:pPr>
              <a:buFont typeface="Symbol" panose="05050102010706020507" pitchFamily="18" charset="2"/>
              <a:buChar char=""/>
              <a:defRPr sz="1350">
                <a:solidFill>
                  <a:srgbClr val="000000"/>
                </a:solidFill>
              </a:defRPr>
            </a:pPr>
            <a:r>
              <a:rPr sz="1400" dirty="0" err="1">
                <a:solidFill>
                  <a:srgbClr val="000000"/>
                </a:solidFill>
              </a:rPr>
              <a:t>Повторяемость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-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возможность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проходить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сценарий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несколько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раз</a:t>
            </a:r>
            <a:endParaRPr sz="1400" dirty="0">
              <a:solidFill>
                <a:srgbClr val="000000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B961E2A-3702-49AD-AC40-683C9DA62155}"/>
              </a:ext>
            </a:extLst>
          </p:cNvPr>
          <p:cNvSpPr>
            <a:spLocks noGrp="1"/>
          </p:cNvSpPr>
          <p:nvPr/>
        </p:nvSpPr>
        <p:spPr>
          <a:xfrm>
            <a:off x="2047587" y="461010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Меню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E56332A-7979-4B07-8208-0CCA995748E1}"/>
              </a:ext>
            </a:extLst>
          </p:cNvPr>
          <p:cNvSpPr>
            <a:spLocks noGrp="1"/>
          </p:cNvSpPr>
          <p:nvPr/>
        </p:nvSpPr>
        <p:spPr>
          <a:xfrm>
            <a:off x="3358573" y="477202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607D8B"/>
                </a:solidFill>
              </a:defRPr>
            </a:pPr>
            <a:r>
              <a:rPr sz="1650" b="1" dirty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234916C-AE51-4F03-980B-C0C3C810010A}"/>
              </a:ext>
            </a:extLst>
          </p:cNvPr>
          <p:cNvSpPr>
            <a:spLocks noGrp="1"/>
          </p:cNvSpPr>
          <p:nvPr/>
        </p:nvSpPr>
        <p:spPr>
          <a:xfrm>
            <a:off x="3666837" y="461010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Таймер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FEF6247-FE9B-464E-857C-8404A9AA734A}"/>
              </a:ext>
            </a:extLst>
          </p:cNvPr>
          <p:cNvSpPr>
            <a:spLocks noGrp="1"/>
          </p:cNvSpPr>
          <p:nvPr/>
        </p:nvSpPr>
        <p:spPr>
          <a:xfrm>
            <a:off x="4981287" y="477202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607D8B"/>
                </a:solidFill>
              </a:defRPr>
            </a:pPr>
            <a:r>
              <a:rPr sz="1650" b="1" dirty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D98E08B-1227-4018-97F1-76913FFA6CF7}"/>
              </a:ext>
            </a:extLst>
          </p:cNvPr>
          <p:cNvSpPr>
            <a:spLocks noGrp="1"/>
          </p:cNvSpPr>
          <p:nvPr/>
        </p:nvSpPr>
        <p:spPr>
          <a:xfrm>
            <a:off x="5286087" y="461010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Слайды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9BD7FAB-8008-434B-BA04-2B4010EC6F35}"/>
              </a:ext>
            </a:extLst>
          </p:cNvPr>
          <p:cNvSpPr>
            <a:spLocks noGrp="1"/>
          </p:cNvSpPr>
          <p:nvPr/>
        </p:nvSpPr>
        <p:spPr>
          <a:xfrm>
            <a:off x="6581487" y="477202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607D8B"/>
                </a:solidFill>
              </a:defRPr>
            </a:pPr>
            <a:r>
              <a:rPr sz="1650" b="1" dirty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818E1DE-B591-4603-9236-AFE6A660CF6B}"/>
              </a:ext>
            </a:extLst>
          </p:cNvPr>
          <p:cNvSpPr>
            <a:spLocks noGrp="1"/>
          </p:cNvSpPr>
          <p:nvPr/>
        </p:nvSpPr>
        <p:spPr>
          <a:xfrm>
            <a:off x="6905337" y="461010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Реакция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36EF8AA-A79D-4F89-8A3A-2777AC5E18C6}"/>
              </a:ext>
            </a:extLst>
          </p:cNvPr>
          <p:cNvSpPr>
            <a:spLocks noGrp="1"/>
          </p:cNvSpPr>
          <p:nvPr/>
        </p:nvSpPr>
        <p:spPr>
          <a:xfrm>
            <a:off x="8257887" y="477202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607D8B"/>
                </a:solidFill>
              </a:defRPr>
            </a:pPr>
            <a:r>
              <a:rPr sz="1650" b="1" dirty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02A37A1-0E1F-49EC-9003-25A61EDADC74}"/>
              </a:ext>
            </a:extLst>
          </p:cNvPr>
          <p:cNvSpPr>
            <a:spLocks noGrp="1"/>
          </p:cNvSpPr>
          <p:nvPr/>
        </p:nvSpPr>
        <p:spPr>
          <a:xfrm>
            <a:off x="8629362" y="461010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>
                <a:solidFill>
                  <a:srgbClr val="1F2933"/>
                </a:solidFill>
              </a:defRPr>
            </a:pPr>
            <a:r>
              <a:rPr sz="1125" dirty="0" err="1">
                <a:solidFill>
                  <a:srgbClr val="1F2933"/>
                </a:solidFill>
              </a:rPr>
              <a:t>Статистика</a:t>
            </a:r>
            <a:endParaRPr sz="1125" dirty="0">
              <a:solidFill>
                <a:srgbClr val="1F29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847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Обзор и </a:t>
            </a:r>
            <a:r>
              <a:rPr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выбора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инструментов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F234A60-4EB6-453C-AACA-43B18490A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235" y="1294776"/>
            <a:ext cx="2499683" cy="249968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CA4716-5BFB-4D2E-B97C-C40352311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219368"/>
            <a:ext cx="3540476" cy="1991518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EF9E701C-07BF-4528-B279-4B471C31C5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215" y="4755134"/>
            <a:ext cx="3329722" cy="919986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8080D9EB-5614-48F2-8590-933FBFC038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409" y="1088866"/>
            <a:ext cx="2389760" cy="268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2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D81F6-8381-454F-98A7-9C9706D6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 ПРАКТИЧЕСКАЯ ЧАСТЬ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636"/>
            <a:ext cx="10515600" cy="3919971"/>
          </a:xfrm>
        </p:spPr>
        <p:txBody>
          <a:bodyPr>
            <a:noAutofit/>
          </a:bodyPr>
          <a:lstStyle/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2.1 </a:t>
            </a:r>
            <a:r>
              <a:rPr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Проектирование</a:t>
            </a:r>
            <a:endParaRPr sz="24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Функциональные требования: 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запуск тренировки из отдельной сцены меню; 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выбор времени только из допустимых значений; 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отображение обратного отсчета; переключение слайдов; 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остановку таймера на последнем слайде; реакцию аудитории; 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захват и возврат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кликера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управление в VR и проверку без гарнитуры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230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Реализация проекта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Скрипт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ClickerControls.cs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D17362-5118-4C9F-B17A-F206A60C30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68168" y="1872623"/>
            <a:ext cx="7855663" cy="433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39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ru-RU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46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OnEnable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47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48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grabInteractable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!=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49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50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grabInteractable.activated.AddListener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OnActivated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51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grabInteractable.selectEntered.AddListener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OnSelectEntered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52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grabInteractable.selectExited.AddListener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OnSelectExited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53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54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55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EnsureVisibleAndInteractable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56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(!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isHeld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57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58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DockOnStand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59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60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1800" dirty="0">
              <a:solidFill>
                <a:srgbClr val="222222"/>
              </a:solidFill>
              <a:effectLst/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endParaRPr lang="en-US" sz="135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64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 fontScale="92500" lnSpcReduction="2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808080"/>
                </a:solidFill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88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NextSlide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89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90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sessionManager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!=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 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sessionManager.NextSlide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91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92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93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ToggleTimer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94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95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sessionManager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!=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 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sessionManager.ToggleTimer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96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1800" dirty="0">
              <a:solidFill>
                <a:srgbClr val="222222"/>
              </a:solidFill>
              <a:effectLst/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ru-RU" sz="1800" dirty="0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108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OnActivated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ActivateEventArgs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109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110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useActivateForNextSlide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111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112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NextSlide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113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114 | </a:t>
            </a:r>
            <a:r>
              <a:rPr lang="en-US" sz="18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US" sz="135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955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6067722"/>
          </a:xfrm>
        </p:spPr>
        <p:txBody>
          <a:bodyPr>
            <a:normAutofit fontScale="25000" lnSpcReduction="2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ru-RU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186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private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OnSelectEntered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SelectEnterEventArgs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args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187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188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isHeld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true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189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==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null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return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190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191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clickerRigidbody.isKinematic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false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192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clickerRigidbody.useGravity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false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193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194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195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private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OnSelectExited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SelectExitEventArgs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args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196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197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isHeld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false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198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DockOnStand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199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200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201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private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DockOnStand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202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203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(!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dockOnStandWhenReleased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||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==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null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return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204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205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safePosition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standRestPosition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206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safeRotation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en-US" sz="32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Quaternion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.Euler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standRestEulerAngles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207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clickerRigidbody.isKinematic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false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208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clickerRigidbody.velocity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Vector3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.zero;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209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clickerRigidbody.angularVelocity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Vector3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.zero;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210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clickerRigidbody.useGravity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false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211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clickerRigidbody.isKinematic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true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212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transform.SetPositionAndRotation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safePosition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, </a:t>
            </a:r>
            <a:r>
              <a:rPr lang="en-US" sz="3200" dirty="0" err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safeRotation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213 | </a:t>
            </a:r>
            <a:r>
              <a:rPr lang="en-US" sz="3200" dirty="0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US" sz="135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967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2.3 </a:t>
            </a:r>
            <a:r>
              <a:rPr sz="1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Тестирование</a:t>
            </a:r>
            <a:r>
              <a:rPr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проекта</a:t>
            </a:r>
            <a:endParaRPr sz="18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Выбран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метод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интеграционного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тестирования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: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проверялась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совместная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работа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меню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таймера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слайдов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кликера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звука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, VR-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управления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статистики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sz="14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табильность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запуска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переходов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между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сценами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роизводительность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заметных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просадок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FPS;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орректность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механик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добство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VR-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взаимодействия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7AB1A06-238B-4863-9FF9-9D81FAFDC1FE}"/>
              </a:ext>
            </a:extLst>
          </p:cNvPr>
          <p:cNvSpPr>
            <a:spLocks noGrp="1"/>
          </p:cNvSpPr>
          <p:nvPr/>
        </p:nvSpPr>
        <p:spPr>
          <a:xfrm>
            <a:off x="2831726" y="3797659"/>
            <a:ext cx="2665674" cy="547349"/>
          </a:xfrm>
          <a:prstGeom prst="rect">
            <a:avLst/>
          </a:prstGeom>
          <a:solidFill>
            <a:srgbClr val="1F4E5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FFFFFF"/>
                </a:solidFill>
              </a:defRPr>
            </a:pPr>
            <a:r>
              <a:rPr sz="12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</a:t>
            </a:r>
            <a:endParaRPr sz="12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89C0445-630A-4D6F-B776-4345C615354D}"/>
              </a:ext>
            </a:extLst>
          </p:cNvPr>
          <p:cNvSpPr>
            <a:spLocks noGrp="1"/>
          </p:cNvSpPr>
          <p:nvPr/>
        </p:nvSpPr>
        <p:spPr>
          <a:xfrm>
            <a:off x="4266419" y="3797659"/>
            <a:ext cx="3684903" cy="547349"/>
          </a:xfrm>
          <a:prstGeom prst="rect">
            <a:avLst/>
          </a:prstGeom>
          <a:solidFill>
            <a:srgbClr val="1F4E5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4A2B2EC-524E-4863-8007-4A1A5C09ABF2}"/>
              </a:ext>
            </a:extLst>
          </p:cNvPr>
          <p:cNvSpPr>
            <a:spLocks noGrp="1"/>
          </p:cNvSpPr>
          <p:nvPr/>
        </p:nvSpPr>
        <p:spPr>
          <a:xfrm>
            <a:off x="6788727" y="3797659"/>
            <a:ext cx="2116859" cy="547349"/>
          </a:xfrm>
          <a:prstGeom prst="rect">
            <a:avLst/>
          </a:prstGeom>
          <a:solidFill>
            <a:srgbClr val="1F4E5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C52F0AE-2EB1-42EC-B17F-824F0140613B}"/>
              </a:ext>
            </a:extLst>
          </p:cNvPr>
          <p:cNvSpPr>
            <a:spLocks noGrp="1"/>
          </p:cNvSpPr>
          <p:nvPr/>
        </p:nvSpPr>
        <p:spPr>
          <a:xfrm>
            <a:off x="2831726" y="4159609"/>
            <a:ext cx="2665674" cy="547349"/>
          </a:xfrm>
          <a:prstGeom prst="rect">
            <a:avLst/>
          </a:prstGeom>
          <a:solidFill>
            <a:srgbClr val="FFFFF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Меню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4A3E947-ED62-4A04-9F33-DF6C553784EA}"/>
              </a:ext>
            </a:extLst>
          </p:cNvPr>
          <p:cNvSpPr>
            <a:spLocks noGrp="1"/>
          </p:cNvSpPr>
          <p:nvPr/>
        </p:nvSpPr>
        <p:spPr>
          <a:xfrm>
            <a:off x="4266419" y="4159609"/>
            <a:ext cx="3684903" cy="547349"/>
          </a:xfrm>
          <a:prstGeom prst="rect">
            <a:avLst/>
          </a:prstGeom>
          <a:solidFill>
            <a:srgbClr val="FFFFF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читаемо, запуск работает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8E03067-E822-47B9-9DCF-FD67C913692C}"/>
              </a:ext>
            </a:extLst>
          </p:cNvPr>
          <p:cNvSpPr>
            <a:spLocks noGrp="1"/>
          </p:cNvSpPr>
          <p:nvPr/>
        </p:nvSpPr>
        <p:spPr>
          <a:xfrm>
            <a:off x="6788727" y="4159609"/>
            <a:ext cx="2116859" cy="547349"/>
          </a:xfrm>
          <a:prstGeom prst="rect">
            <a:avLst/>
          </a:prstGeom>
          <a:solidFill>
            <a:srgbClr val="EAF6EA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DA96936-0784-44E4-B27C-52FC9ED54AC4}"/>
              </a:ext>
            </a:extLst>
          </p:cNvPr>
          <p:cNvSpPr>
            <a:spLocks noGrp="1"/>
          </p:cNvSpPr>
          <p:nvPr/>
        </p:nvSpPr>
        <p:spPr>
          <a:xfrm>
            <a:off x="2831726" y="4521559"/>
            <a:ext cx="2665674" cy="547349"/>
          </a:xfrm>
          <a:prstGeom prst="rect">
            <a:avLst/>
          </a:prstGeom>
          <a:solidFill>
            <a:srgbClr val="FFFFF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Кликер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F373AA4-4C0C-4330-AD06-7D4C9BD3EE66}"/>
              </a:ext>
            </a:extLst>
          </p:cNvPr>
          <p:cNvSpPr>
            <a:spLocks noGrp="1"/>
          </p:cNvSpPr>
          <p:nvPr/>
        </p:nvSpPr>
        <p:spPr>
          <a:xfrm>
            <a:off x="4266419" y="4521559"/>
            <a:ext cx="3684903" cy="547349"/>
          </a:xfrm>
          <a:prstGeom prst="rect">
            <a:avLst/>
          </a:prstGeom>
          <a:solidFill>
            <a:srgbClr val="FFFFF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проваливается, доступен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6869606-E55C-4EC1-A272-E6594FF12BE2}"/>
              </a:ext>
            </a:extLst>
          </p:cNvPr>
          <p:cNvSpPr>
            <a:spLocks noGrp="1"/>
          </p:cNvSpPr>
          <p:nvPr/>
        </p:nvSpPr>
        <p:spPr>
          <a:xfrm>
            <a:off x="6788727" y="4521559"/>
            <a:ext cx="2116859" cy="547349"/>
          </a:xfrm>
          <a:prstGeom prst="rect">
            <a:avLst/>
          </a:prstGeom>
          <a:solidFill>
            <a:srgbClr val="EAF6EA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14E93D1-F2EB-46ED-B9A6-555690838708}"/>
              </a:ext>
            </a:extLst>
          </p:cNvPr>
          <p:cNvSpPr>
            <a:spLocks noGrp="1"/>
          </p:cNvSpPr>
          <p:nvPr/>
        </p:nvSpPr>
        <p:spPr>
          <a:xfrm>
            <a:off x="2831726" y="4883509"/>
            <a:ext cx="2665674" cy="547349"/>
          </a:xfrm>
          <a:prstGeom prst="rect">
            <a:avLst/>
          </a:prstGeom>
          <a:solidFill>
            <a:srgbClr val="FFFFF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Звук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B13312D-683C-4919-B142-76CE323F5007}"/>
              </a:ext>
            </a:extLst>
          </p:cNvPr>
          <p:cNvSpPr>
            <a:spLocks noGrp="1"/>
          </p:cNvSpPr>
          <p:nvPr/>
        </p:nvSpPr>
        <p:spPr>
          <a:xfrm>
            <a:off x="4266419" y="4883509"/>
            <a:ext cx="3684903" cy="547349"/>
          </a:xfrm>
          <a:prstGeom prst="rect">
            <a:avLst/>
          </a:prstGeom>
          <a:solidFill>
            <a:srgbClr val="FFFFF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аплодисменты/негативная реакция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DAFB81C-322F-403E-A518-C69BB2562656}"/>
              </a:ext>
            </a:extLst>
          </p:cNvPr>
          <p:cNvSpPr>
            <a:spLocks noGrp="1"/>
          </p:cNvSpPr>
          <p:nvPr/>
        </p:nvSpPr>
        <p:spPr>
          <a:xfrm>
            <a:off x="6788727" y="4883509"/>
            <a:ext cx="2116859" cy="547349"/>
          </a:xfrm>
          <a:prstGeom prst="rect">
            <a:avLst/>
          </a:prstGeom>
          <a:solidFill>
            <a:srgbClr val="EAF6EA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</a:t>
            </a:r>
          </a:p>
        </p:txBody>
      </p:sp>
    </p:spTree>
    <p:extLst>
      <p:ext uri="{BB962C8B-B14F-4D97-AF65-F5344CB8AC3E}">
        <p14:creationId xmlns:p14="http://schemas.microsoft.com/office/powerpoint/2010/main" val="3853056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6421582" cy="5529849"/>
          </a:xfrm>
        </p:spPr>
        <p:txBody>
          <a:bodyPr>
            <a:normAutofit/>
          </a:bodyPr>
          <a:lstStyle/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2.4 Руководство программиста</a:t>
            </a:r>
          </a:p>
          <a:p>
            <a:pPr marL="0" indent="0">
              <a:buNone/>
            </a:pP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требования: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VR-гарнитура HTC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Vive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или совместимое устройство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OpenXR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Операционная система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VR-гарнитуре;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контроллеров с триггером и лучевым взаимодействием;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Свободное место для установки APK-файла: не менее 500 МБ;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Оперативная память: не менее 4 ГБ;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 обновления экрана: рекомендуется 72 Гц и выше;</a:t>
            </a:r>
          </a:p>
          <a:p>
            <a:pPr>
              <a:buFont typeface="Symbol" panose="05050102010706020507" pitchFamily="18" charset="2"/>
              <a:buChar char="-"/>
              <a:defRPr sz="1350">
                <a:solidFill>
                  <a:srgbClr val="000000"/>
                </a:solidFill>
              </a:defRPr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разработки и сборки: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Unity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2022.3.45f1,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OpenXR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XR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Toolkit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3006B6-2224-49B8-B98D-A4BEFF1A6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633" y="1578416"/>
            <a:ext cx="3701167" cy="370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997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7539182" cy="5529849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2.5 </a:t>
            </a:r>
            <a:r>
              <a:rPr sz="32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Руководство</a:t>
            </a:r>
            <a:r>
              <a:rPr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2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пользователя</a:t>
            </a:r>
            <a:endParaRPr sz="3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действия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Запустить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В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главном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меню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время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тренировки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Нажать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Начать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тренировку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В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сцене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аудитории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использовать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VR-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кликер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Переключать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слайды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следить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таймером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завершения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просмотреть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статистику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Вернуться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меню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повторной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тренировки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VR: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луч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контроллера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наводится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кнопку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нажатие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выполняется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курком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Trigger.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646DF9-988C-4BEA-A339-6B56FA6D8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382" y="1695432"/>
            <a:ext cx="3433211" cy="343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81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2.6 </a:t>
            </a:r>
            <a:r>
              <a:rPr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Экономическое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обоснование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проекта</a:t>
            </a:r>
            <a:endParaRPr sz="32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35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Полная</a:t>
            </a:r>
            <a:r>
              <a:rPr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себестоимость</a:t>
            </a:r>
            <a:r>
              <a:rPr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готового</a:t>
            </a:r>
            <a:r>
              <a:rPr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программного</a:t>
            </a:r>
            <a:r>
              <a:rPr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продукта</a:t>
            </a:r>
            <a:r>
              <a:rPr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составила</a:t>
            </a:r>
            <a:r>
              <a:rPr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54 688,9 рублей.</a:t>
            </a:r>
            <a:endParaRPr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Скрудж МакДак и деньги (1967) смотреть онлайн мультфильм">
            <a:extLst>
              <a:ext uri="{FF2B5EF4-FFF2-40B4-BE49-F238E27FC236}">
                <a16:creationId xmlns:a16="http://schemas.microsoft.com/office/drawing/2014/main" id="{DC4B9253-4404-46D5-B3A0-7A6D2C305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0" y="2655600"/>
            <a:ext cx="342900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174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6884937" cy="5529849"/>
          </a:xfrm>
        </p:spPr>
        <p:txBody>
          <a:bodyPr>
            <a:normAutofit/>
          </a:bodyPr>
          <a:lstStyle/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2.7 </a:t>
            </a:r>
            <a:r>
              <a:rPr sz="1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Техника</a:t>
            </a:r>
            <a:r>
              <a:rPr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безопасности</a:t>
            </a:r>
            <a:r>
              <a:rPr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1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охрана</a:t>
            </a:r>
            <a:r>
              <a:rPr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труда</a:t>
            </a:r>
            <a:endParaRPr sz="18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Рассмотрены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требования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безопасной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разработки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эксплуатации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VR-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приложения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рабочего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места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разработчика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правильное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положение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монитора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освещение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перерывы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работе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ПК;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исправность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кабелей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оборудования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зрительной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нагрузки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VR-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эксплуатации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свободная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зона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вокруг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самочувствия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использовании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гарнитуры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надежное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крепление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гарнитуры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контроллеров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прекращение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тренировки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дискомфорте</a:t>
            </a:r>
            <a:r>
              <a:rPr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050" name="Picture 2" descr="Virtual Reality Education Icon SVG Vector &amp; PNG Free Download | UXWing">
            <a:extLst>
              <a:ext uri="{FF2B5EF4-FFF2-40B4-BE49-F238E27FC236}">
                <a16:creationId xmlns:a16="http://schemas.microsoft.com/office/drawing/2014/main" id="{D7FC0A87-763F-4BD2-A993-F3299E020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137" y="1832123"/>
            <a:ext cx="3630663" cy="319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118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E8265DE-7825-4199-B422-5C152821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B9B5B7-9B76-4F46-93AB-B3DCA2467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5070475"/>
          </a:xfrm>
        </p:spPr>
        <p:txBody>
          <a:bodyPr>
            <a:noAutofit/>
          </a:bodyPr>
          <a:lstStyle/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Цель</a:t>
            </a:r>
            <a:r>
              <a:rPr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дипломного</a:t>
            </a:r>
            <a:r>
              <a:rPr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проекта</a:t>
            </a:r>
            <a:r>
              <a:rPr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достигнута</a:t>
            </a:r>
            <a:r>
              <a:rPr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разработано</a:t>
            </a:r>
            <a:r>
              <a:rPr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обучающее</a:t>
            </a:r>
            <a:r>
              <a:rPr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VR-</a:t>
            </a:r>
            <a:r>
              <a:rPr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приложение</a:t>
            </a:r>
            <a:r>
              <a:rPr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для</a:t>
            </a:r>
            <a:r>
              <a:rPr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тренировки</a:t>
            </a:r>
            <a:r>
              <a:rPr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публичного</a:t>
            </a:r>
            <a:r>
              <a:rPr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выступления</a:t>
            </a:r>
            <a:r>
              <a:rPr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0" indent="0">
              <a:buNone/>
            </a:pPr>
            <a:endParaRPr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>
                <a:solidFill>
                  <a:srgbClr val="000000"/>
                </a:solidFill>
              </a:defRPr>
            </a:pPr>
            <a:r>
              <a:rPr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Решены</a:t>
            </a:r>
            <a:r>
              <a:rPr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задачи</a:t>
            </a:r>
            <a:r>
              <a:rPr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  <a:p>
            <a:pPr marL="342900" lvl="0" indent="-342900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Проанализированы предметная область и существующие аналоги;</a:t>
            </a:r>
          </a:p>
          <a:p>
            <a:pPr marL="342900" lvl="0" indent="-342900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Рассмотрены основные теоретические аспекты разработки VR-приложения;</a:t>
            </a:r>
          </a:p>
          <a:p>
            <a:pPr marL="342900" lvl="0" indent="-342900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 обзор и обоснован выбор технологий и инструментов разработки;</a:t>
            </a:r>
          </a:p>
          <a:p>
            <a:pPr marL="342900" lvl="0" indent="-342900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Спроектированы структура, пользовательские сценарии и интерфейс VR-тренажера;</a:t>
            </a:r>
          </a:p>
          <a:p>
            <a:pPr marL="342900" lvl="0" indent="-342900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основные программные модули проекта;</a:t>
            </a:r>
          </a:p>
          <a:p>
            <a:pPr marL="342900" lvl="0" indent="-342900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тестирование разработанного VR-приложения;</a:t>
            </a:r>
          </a:p>
          <a:p>
            <a:pPr marL="342900" lvl="0" indent="-342900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руководство программиста;</a:t>
            </a:r>
          </a:p>
          <a:p>
            <a:pPr marL="342900" lvl="0" indent="-342900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руководство пользователя;</a:t>
            </a:r>
          </a:p>
          <a:p>
            <a:pPr marL="342900" lvl="0" indent="-342900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Рассчитано экономическое обоснование проекта;</a:t>
            </a:r>
          </a:p>
          <a:p>
            <a:pPr marL="342900" lvl="0" indent="-342900">
              <a:lnSpc>
                <a:spcPct val="10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Рассмотрены требования техники безопасности и охраны труда.</a:t>
            </a:r>
            <a:endParaRPr sz="16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399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A8C7AF-2FCE-4C18-A9D2-C3DFE6123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435" y="322729"/>
            <a:ext cx="10986247" cy="6225989"/>
          </a:xfrm>
        </p:spPr>
        <p:txBody>
          <a:bodyPr>
            <a:norm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Челябинской области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образовательное учреждение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«Южно-Уральский государственный колледж»</a:t>
            </a:r>
          </a:p>
          <a:p>
            <a:pPr algn="ctr">
              <a:lnSpc>
                <a:spcPct val="150000"/>
              </a:lnSpc>
              <a:spcBef>
                <a:spcPts val="1055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«Информатики и вычислительной техники»</a:t>
            </a:r>
          </a:p>
          <a:p>
            <a:pPr algn="ctr">
              <a:lnSpc>
                <a:spcPct val="150000"/>
              </a:lnSpc>
              <a:spcBef>
                <a:spcPts val="3000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ДИПЛОМНЫЙ ПРОЕКТ</a:t>
            </a:r>
          </a:p>
          <a:p>
            <a:pPr algn="ctr">
              <a:lnSpc>
                <a:spcPct val="150000"/>
              </a:lnSpc>
              <a:spcBef>
                <a:spcPts val="360"/>
              </a:spcBef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обучающего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VR-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приложения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специальность СПО 09.02.07 «Информационные системы и программирование»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Дипломный проект выполнил: 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  <a:tabLst>
                <a:tab pos="8258175" algn="l"/>
              </a:tabLst>
            </a:pPr>
            <a:r>
              <a:rPr lang="ru-RU" sz="1800" dirty="0">
                <a:latin typeface="Times New Roman" panose="02020603050405020304" pitchFamily="18" charset="0"/>
              </a:rPr>
              <a:t>студент группы ИСп319ДК, Федин Артемий Антонович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очного отделения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Руководитель: преподаватель Исаев Андрей Николаевич</a:t>
            </a:r>
          </a:p>
          <a:p>
            <a:pPr>
              <a:lnSpc>
                <a:spcPct val="150000"/>
              </a:lnSpc>
              <a:spcBef>
                <a:spcPts val="480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Челябинск 2026</a:t>
            </a:r>
          </a:p>
        </p:txBody>
      </p:sp>
    </p:spTree>
    <p:extLst>
      <p:ext uri="{BB962C8B-B14F-4D97-AF65-F5344CB8AC3E}">
        <p14:creationId xmlns:p14="http://schemas.microsoft.com/office/powerpoint/2010/main" val="40098399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1152</Words>
  <Application>Microsoft Office PowerPoint</Application>
  <DocSecurity>0</DocSecurity>
  <PresentationFormat>Широкоэкранный</PresentationFormat>
  <Paragraphs>203</Paragraphs>
  <Slides>17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Symbol</vt:lpstr>
      <vt:lpstr>Times New Roman</vt:lpstr>
      <vt:lpstr>Тема Office</vt:lpstr>
      <vt:lpstr>Презентация PowerPoint</vt:lpstr>
      <vt:lpstr>ВВЕДЕНИЕ</vt:lpstr>
      <vt:lpstr>1 ТЕОРЕТИЧЕСКАЯ ЧАСТЬ</vt:lpstr>
      <vt:lpstr>Презентация PowerPoint</vt:lpstr>
      <vt:lpstr>Презентация PowerPoint</vt:lpstr>
      <vt:lpstr>2 ПРАКТИЧЕСКАЯ ЧАСТЬ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Артемий Федин</cp:lastModifiedBy>
  <cp:revision>3</cp:revision>
  <dcterms:created xsi:type="dcterms:W3CDTF">2026-06-17T11:02:57Z</dcterms:created>
  <dcterms:modified xsi:type="dcterms:W3CDTF">2026-06-18T04:54:21Z</dcterms:modified>
</cp:coreProperties>
</file>